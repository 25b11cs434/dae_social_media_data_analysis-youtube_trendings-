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68" r:id="rId1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2324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Review-2 of our DAE project: the Social Media Data Analysis System, built on YouTube trending videos. Introduce the four team members.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Review-1: trending data is huge and hard to compare by hand. Our solution is an automated pipeline (load, clean, transform, visualize) with an interactive Streamlit dashboard.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steps of the pipeline and the modules we finished. Everything is done except final testing and the report. Steps 1 to 3 run inside the clean() function every time the app starts.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Module 1 loads the Excel sheet named Data with one Pandas line. The screenshot is VS Code running load_data.py: 6,090 rows and 15 columns. The blanks and negative values in the raw file are why cleaning is needed.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green comments one by one: tidy column names, remove duplicates, convert types, fill missing numbers with the median, drop rows with no date or zero views. The terminal shows the cleaning log.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fixes impossible values (likes above views, trending before publish). Step 7 creates engagement_rate, like_rate, log10_views and trend_month. Step 8 saves the cleaned CSV and Excel files in the project folder.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sidebar lets the user filter by channel tier, category, country, view range and text search, then sort. The filters build the table f, and every KPI and chart is drawn from f, so they all update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dashboard. The five KPI cards (videos, total views, average views, average likes, average engagement) are calculated from the filtered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charts are enough to tell the story: the bar chart compares categories, the pie shows the mix of channel types, the line shows the monthly trend. Each is one Plotly Express call on the filtered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the top N videos for the chosen sort column, with a CSV download button. The Insights box reports the top category, the best-engaging channel type and the top country.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step to a DAE concept: collection, preprocessing, feature engineering, visualization, insight generation, plus the programming concepts used.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E4F8C-C36E-7E09-32E0-DF3C3351A5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1D57F70-4F10-04C1-820F-2E58C5A774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C8306F-C8B3-48F5-B7C0-1BE757963815}"/>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5" name="Footer Placeholder 4">
            <a:extLst>
              <a:ext uri="{FF2B5EF4-FFF2-40B4-BE49-F238E27FC236}">
                <a16:creationId xmlns:a16="http://schemas.microsoft.com/office/drawing/2014/main" id="{5A380A7E-9450-3432-3714-DB7866D1A0D8}"/>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B26F514C-DC34-97DB-70BA-1BF69650AF25}"/>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05971589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BC9DF-A386-5B56-DC45-8DF91B4AC6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27C5AF-F91E-FE5B-0E5D-B0E4EDAEEB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1DFDD8-6AAF-D9FD-44D9-D54250F8F01F}"/>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5" name="Footer Placeholder 4">
            <a:extLst>
              <a:ext uri="{FF2B5EF4-FFF2-40B4-BE49-F238E27FC236}">
                <a16:creationId xmlns:a16="http://schemas.microsoft.com/office/drawing/2014/main" id="{A3DEBB43-B88E-8E60-5B0A-0D149BF18139}"/>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5E808C75-E50A-C91C-BA2F-7552F5321007}"/>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76835125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45E97-1771-CE17-600F-61B2317C1C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285A1C-DA47-9FC2-99E9-8F3FD525F7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7E61EA-3952-12FE-5933-A5B926922166}"/>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5" name="Footer Placeholder 4">
            <a:extLst>
              <a:ext uri="{FF2B5EF4-FFF2-40B4-BE49-F238E27FC236}">
                <a16:creationId xmlns:a16="http://schemas.microsoft.com/office/drawing/2014/main" id="{A06BBED1-F491-1D9D-A9CA-094D197476ED}"/>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F9C8F92F-5193-05A3-57F6-1CB2D2B01A35}"/>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91582747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31AB5-E882-BC65-6E45-6489EB9C08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DA7D67-8C98-DB94-68FC-6B80EA46E9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FE7629-4E66-6D29-37EA-6FFAF5ADCF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82843E-A67F-6C6E-3C2E-28FB2589FFA1}"/>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6" name="Footer Placeholder 5">
            <a:extLst>
              <a:ext uri="{FF2B5EF4-FFF2-40B4-BE49-F238E27FC236}">
                <a16:creationId xmlns:a16="http://schemas.microsoft.com/office/drawing/2014/main" id="{849FFA9B-1B84-A589-F639-41E94A1A0EC1}"/>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6C26BCF3-EB33-EA94-999B-84B05EE32A61}"/>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89315214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CAB0E-04DD-D0EC-02D5-6455B32F7B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6252B9-1A69-F468-4246-CDBBB76EFA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303164-F1DC-3C62-83A9-18C956C95C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98D1BF-3C24-C3E7-B73C-AA75B170A9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121ABA-E197-C0D0-DC90-793EAD99C7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D5F8FE-28B1-50F7-8F3C-E7C92CB93A4C}"/>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8" name="Footer Placeholder 7">
            <a:extLst>
              <a:ext uri="{FF2B5EF4-FFF2-40B4-BE49-F238E27FC236}">
                <a16:creationId xmlns:a16="http://schemas.microsoft.com/office/drawing/2014/main" id="{AC9E94D7-DECC-EC7E-1C5E-5898187A25FC}"/>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1BAD632D-691C-7EA3-518F-38D752046DBF}"/>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23734674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66791-354A-EB5E-0F59-5EBBB40EA0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786CF77-A3B8-C26F-B70B-BC7EC5511D8A}"/>
              </a:ext>
            </a:extLst>
          </p:cNvPr>
          <p:cNvSpPr>
            <a:spLocks noGrp="1"/>
          </p:cNvSpPr>
          <p:nvPr>
            <p:ph type="dt" sz="half" idx="10"/>
          </p:nvPr>
        </p:nvSpPr>
        <p:spPr/>
        <p:txBody>
          <a:bodyPr/>
          <a:lstStyle/>
          <a:p>
            <a:fld id="{16C42483-B3E3-4399-B6B2-4B1D067F8CE5}" type="datetime1">
              <a:rPr lang="en-US" smtClean="0"/>
              <a:t>10/30/2026</a:t>
            </a:fld>
            <a:endParaRPr lang="en-US"/>
          </a:p>
        </p:txBody>
      </p:sp>
      <p:sp>
        <p:nvSpPr>
          <p:cNvPr id="4" name="Footer Placeholder 3">
            <a:extLst>
              <a:ext uri="{FF2B5EF4-FFF2-40B4-BE49-F238E27FC236}">
                <a16:creationId xmlns:a16="http://schemas.microsoft.com/office/drawing/2014/main" id="{227B5E87-11CC-51B0-21EB-6AA2B2B6AB6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0219D291-4F6C-4A94-30FA-0CBED67EB60C}"/>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1569357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F70283-C013-ED04-8B34-3C6D0545A543}"/>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3" name="Footer Placeholder 2">
            <a:extLst>
              <a:ext uri="{FF2B5EF4-FFF2-40B4-BE49-F238E27FC236}">
                <a16:creationId xmlns:a16="http://schemas.microsoft.com/office/drawing/2014/main" id="{B81C3F55-9F39-A97C-EC52-8551090B40C8}"/>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53C37887-8105-BEF9-D65C-332BD0FD7728}"/>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50959170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86073-BC81-D305-A1EC-47EB53DEB0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6909BC-5A60-C5F3-4F63-BDCD24CB8A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439A27-F867-9E9A-FD65-212A1D69E3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3DC872-D019-69A3-85A9-E9E74F85C438}"/>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6" name="Footer Placeholder 5">
            <a:extLst>
              <a:ext uri="{FF2B5EF4-FFF2-40B4-BE49-F238E27FC236}">
                <a16:creationId xmlns:a16="http://schemas.microsoft.com/office/drawing/2014/main" id="{B2068613-215D-C4F4-78CB-1EDC701673CE}"/>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D4CD0339-1771-8295-FB81-381B09EF0576}"/>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2609393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9D44-8A45-5C2C-51E8-1DC8B4F39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B222C9-EB2E-A446-7B82-3EEBC8C426E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B7E4E1-5961-1564-1F4E-9030EE48C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FD4D3E-C38B-CCA0-17A7-434B7BFB2B10}"/>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6" name="Footer Placeholder 5">
            <a:extLst>
              <a:ext uri="{FF2B5EF4-FFF2-40B4-BE49-F238E27FC236}">
                <a16:creationId xmlns:a16="http://schemas.microsoft.com/office/drawing/2014/main" id="{8189FB36-0B5F-DCB7-9D3C-CA6E88903836}"/>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A248D316-9964-50EA-EA47-564D34346D56}"/>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58486043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4B58-4653-EDE2-37B6-61B149F025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B1D937-1E73-8E9A-59C5-C271BE3469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ED5249-BF47-663B-8AB8-2F91C11A5D22}"/>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5" name="Footer Placeholder 4">
            <a:extLst>
              <a:ext uri="{FF2B5EF4-FFF2-40B4-BE49-F238E27FC236}">
                <a16:creationId xmlns:a16="http://schemas.microsoft.com/office/drawing/2014/main" id="{2A84F6EA-4F02-1694-16CE-7A5C17CD6C46}"/>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5B3A6779-F0CC-66A0-4D63-5094BE426460}"/>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67824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0F150B-A0B8-B486-8ADA-84BDCFB929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F62C3F-95EA-A806-C2C9-2402A08E0D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81D3BA-8F1D-FE79-0183-54FAD54E5371}"/>
              </a:ext>
            </a:extLst>
          </p:cNvPr>
          <p:cNvSpPr>
            <a:spLocks noGrp="1"/>
          </p:cNvSpPr>
          <p:nvPr>
            <p:ph type="dt" sz="half" idx="10"/>
          </p:nvPr>
        </p:nvSpPr>
        <p:spPr/>
        <p:txBody>
          <a:bodyPr/>
          <a:lstStyle/>
          <a:p>
            <a:fld id="{7DA2CEDE-2AB4-4FB8-9551-E0AA4222B1A3}" type="datetime1">
              <a:rPr lang="en-US" smtClean="0"/>
              <a:pPr/>
              <a:t>10/30/2026</a:t>
            </a:fld>
            <a:endParaRPr lang="en-US" dirty="0"/>
          </a:p>
        </p:txBody>
      </p:sp>
      <p:sp>
        <p:nvSpPr>
          <p:cNvPr id="5" name="Footer Placeholder 4">
            <a:extLst>
              <a:ext uri="{FF2B5EF4-FFF2-40B4-BE49-F238E27FC236}">
                <a16:creationId xmlns:a16="http://schemas.microsoft.com/office/drawing/2014/main" id="{7B94E8B5-8EB2-CF3C-D430-02756B0BC0D4}"/>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5727BADA-667B-EFA0-386B-CC55B06AB8EC}"/>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1922475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2115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844510-5D9C-76B1-9706-D055AD0F83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184B47-CBF3-2D81-02B1-92B0B57781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872BCC-085A-E5C7-FEDD-9BC31E1E39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A2CEDE-2AB4-4FB8-9551-E0AA4222B1A3}" type="datetime1">
              <a:rPr lang="en-US" smtClean="0"/>
              <a:pPr/>
              <a:t>10/30/2026</a:t>
            </a:fld>
            <a:endParaRPr lang="en-US" dirty="0"/>
          </a:p>
        </p:txBody>
      </p:sp>
      <p:sp>
        <p:nvSpPr>
          <p:cNvPr id="5" name="Footer Placeholder 4">
            <a:extLst>
              <a:ext uri="{FF2B5EF4-FFF2-40B4-BE49-F238E27FC236}">
                <a16:creationId xmlns:a16="http://schemas.microsoft.com/office/drawing/2014/main" id="{DB76E6FC-E2B0-FF89-BF76-4E41C94A6E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094D5E63-C45B-EF3B-ACCA-093635EB11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402814879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logo_wide.png"/>
          <p:cNvPicPr>
            <a:picLocks noChangeAspect="1"/>
          </p:cNvPicPr>
          <p:nvPr/>
        </p:nvPicPr>
        <p:blipFill>
          <a:blip r:embed="rId3"/>
          <a:stretch>
            <a:fillRect/>
          </a:stretch>
        </p:blipFill>
        <p:spPr>
          <a:xfrm>
            <a:off x="2567635" y="457200"/>
            <a:ext cx="7607808" cy="1008583"/>
          </a:xfrm>
          <a:prstGeom prst="rect">
            <a:avLst/>
          </a:prstGeom>
        </p:spPr>
      </p:pic>
      <p:sp>
        <p:nvSpPr>
          <p:cNvPr id="3" name="Text 0"/>
          <p:cNvSpPr txBox="1"/>
          <p:nvPr/>
        </p:nvSpPr>
        <p:spPr>
          <a:xfrm>
            <a:off x="731520" y="1645920"/>
            <a:ext cx="10698480" cy="1463040"/>
          </a:xfrm>
          <a:prstGeom prst="rect">
            <a:avLst/>
          </a:prstGeom>
          <a:noFill/>
          <a:ln/>
        </p:spPr>
        <p:txBody>
          <a:bodyPr wrap="square" lIns="0" tIns="0" rIns="0" bIns="0" rtlCol="0" anchor="ctr"/>
          <a:lstStyle/>
          <a:p>
            <a:pPr marL="0" indent="0" algn="ctr">
              <a:buNone/>
            </a:pPr>
            <a:r>
              <a:rPr lang="en-US" sz="2600" b="1" dirty="0">
                <a:solidFill>
                  <a:srgbClr val="1B5E83"/>
                </a:solidFill>
                <a:latin typeface="Calibri" pitchFamily="34" charset="0"/>
                <a:ea typeface="Calibri" pitchFamily="34" charset="-122"/>
                <a:cs typeface="Calibri" pitchFamily="34" charset="-120"/>
              </a:rPr>
              <a:t>DAE PROJECT:</a:t>
            </a:r>
            <a:endParaRPr lang="en-US" sz="2600" dirty="0"/>
          </a:p>
          <a:p>
            <a:pPr marL="0" indent="0" algn="ctr">
              <a:buNone/>
            </a:pPr>
            <a:r>
              <a:rPr lang="en-US" sz="4000" dirty="0">
                <a:solidFill>
                  <a:srgbClr val="70AD47"/>
                </a:solidFill>
                <a:latin typeface="Algerian" pitchFamily="34" charset="0"/>
                <a:ea typeface="Algerian" pitchFamily="34" charset="-122"/>
                <a:cs typeface="Algerian" pitchFamily="34" charset="-120"/>
              </a:rPr>
              <a:t>Social Media Data Analysis System</a:t>
            </a:r>
            <a:endParaRPr lang="en-US" sz="2600" dirty="0"/>
          </a:p>
        </p:txBody>
      </p:sp>
      <p:sp>
        <p:nvSpPr>
          <p:cNvPr id="4" name="Text 1"/>
          <p:cNvSpPr txBox="1"/>
          <p:nvPr/>
        </p:nvSpPr>
        <p:spPr>
          <a:xfrm>
            <a:off x="731520" y="3291840"/>
            <a:ext cx="10698480" cy="457200"/>
          </a:xfrm>
          <a:prstGeom prst="rect">
            <a:avLst/>
          </a:prstGeom>
          <a:noFill/>
          <a:ln/>
        </p:spPr>
        <p:txBody>
          <a:bodyPr wrap="square" lIns="0" tIns="0" rIns="0" bIns="0" rtlCol="0" anchor="ctr"/>
          <a:lstStyle/>
          <a:p>
            <a:pPr marL="0" indent="0" algn="ctr">
              <a:buNone/>
            </a:pPr>
            <a:r>
              <a:rPr lang="en-US" sz="2200" b="1" dirty="0">
                <a:solidFill>
                  <a:srgbClr val="1F2937"/>
                </a:solidFill>
                <a:latin typeface="Calibri" pitchFamily="34" charset="0"/>
                <a:ea typeface="Calibri" pitchFamily="34" charset="-122"/>
                <a:cs typeface="Calibri" pitchFamily="34" charset="-120"/>
              </a:rPr>
              <a:t>FINAL PPT: |  YouTube Trending Analytics Dashboard</a:t>
            </a:r>
            <a:endParaRPr lang="en-US" sz="2200" dirty="0"/>
          </a:p>
        </p:txBody>
      </p:sp>
      <p:sp>
        <p:nvSpPr>
          <p:cNvPr id="5" name="Text 2"/>
          <p:cNvSpPr txBox="1"/>
          <p:nvPr/>
        </p:nvSpPr>
        <p:spPr>
          <a:xfrm>
            <a:off x="384048" y="4572000"/>
            <a:ext cx="3291840" cy="1783080"/>
          </a:xfrm>
          <a:prstGeom prst="rect">
            <a:avLst/>
          </a:prstGeom>
          <a:noFill/>
          <a:ln/>
        </p:spPr>
        <p:txBody>
          <a:bodyPr wrap="square" lIns="0" tIns="0" rIns="0" bIns="0" rtlCol="0" anchor="b"/>
          <a:lstStyle/>
          <a:p>
            <a:pPr marL="0" indent="0" algn="l">
              <a:spcAft>
                <a:spcPts val="400"/>
              </a:spcAft>
              <a:buNone/>
            </a:pPr>
            <a:r>
              <a:rPr lang="en-US" sz="1500" b="1" dirty="0">
                <a:solidFill>
                  <a:srgbClr val="FF0000"/>
                </a:solidFill>
                <a:latin typeface="Calibri" pitchFamily="34" charset="0"/>
                <a:ea typeface="Calibri" pitchFamily="34" charset="-122"/>
                <a:cs typeface="Calibri" pitchFamily="34" charset="-120"/>
              </a:rPr>
              <a:t>Team Members</a:t>
            </a:r>
            <a:endParaRPr lang="en-US" sz="1600" dirty="0"/>
          </a:p>
          <a:p>
            <a:pPr marL="0" indent="0" algn="l">
              <a:spcAft>
                <a:spcPts val="200"/>
              </a:spcAft>
              <a:buNone/>
            </a:pPr>
            <a:r>
              <a:rPr lang="en-US" sz="1600" dirty="0">
                <a:solidFill>
                  <a:srgbClr val="00B0F0"/>
                </a:solidFill>
                <a:latin typeface="Calibri" pitchFamily="34" charset="0"/>
                <a:ea typeface="Calibri" pitchFamily="34" charset="-122"/>
                <a:cs typeface="Calibri" pitchFamily="34" charset="-120"/>
              </a:rPr>
              <a:t>M. Sahithi (25B11CS581)</a:t>
            </a:r>
            <a:endParaRPr lang="en-US" sz="1600" dirty="0"/>
          </a:p>
          <a:p>
            <a:pPr marL="0" indent="0" algn="l">
              <a:spcAft>
                <a:spcPts val="200"/>
              </a:spcAft>
              <a:buNone/>
            </a:pPr>
            <a:r>
              <a:rPr lang="en-US" sz="1600" dirty="0">
                <a:solidFill>
                  <a:srgbClr val="00B0F0"/>
                </a:solidFill>
                <a:latin typeface="Calibri" pitchFamily="34" charset="0"/>
                <a:ea typeface="Calibri" pitchFamily="34" charset="-122"/>
                <a:cs typeface="Calibri" pitchFamily="34" charset="-120"/>
              </a:rPr>
              <a:t>C. Lahari (25B11CS168)</a:t>
            </a:r>
            <a:endParaRPr lang="en-US" sz="1600" dirty="0"/>
          </a:p>
          <a:p>
            <a:pPr marL="0" indent="0" algn="l">
              <a:spcAft>
                <a:spcPts val="200"/>
              </a:spcAft>
              <a:buNone/>
            </a:pPr>
            <a:r>
              <a:rPr lang="en-US" sz="1600" dirty="0">
                <a:solidFill>
                  <a:srgbClr val="00B0F0"/>
                </a:solidFill>
                <a:latin typeface="Calibri" pitchFamily="34" charset="0"/>
                <a:ea typeface="Calibri" pitchFamily="34" charset="-122"/>
                <a:cs typeface="Calibri" pitchFamily="34" charset="-120"/>
              </a:rPr>
              <a:t>P. Yaswanth (25B11CS754)</a:t>
            </a:r>
            <a:endParaRPr lang="en-US" sz="1600" dirty="0"/>
          </a:p>
          <a:p>
            <a:pPr marL="0" indent="0" algn="l">
              <a:spcAft>
                <a:spcPts val="200"/>
              </a:spcAft>
              <a:buNone/>
            </a:pPr>
            <a:r>
              <a:rPr lang="en-US" sz="1600" dirty="0">
                <a:solidFill>
                  <a:srgbClr val="00B0F0"/>
                </a:solidFill>
                <a:latin typeface="Calibri" pitchFamily="34" charset="0"/>
                <a:ea typeface="Calibri" pitchFamily="34" charset="-122"/>
                <a:cs typeface="Calibri" pitchFamily="34" charset="-120"/>
              </a:rPr>
              <a:t>K. Lokesh (25B11CS434)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ED7D31"/>
                </a:solidFill>
                <a:latin typeface="Calibri" pitchFamily="34" charset="0"/>
                <a:ea typeface="Calibri" pitchFamily="34" charset="-122"/>
                <a:cs typeface="Calibri" pitchFamily="34" charset="-120"/>
              </a:rPr>
              <a:t>Recap of Review-1</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731520" y="1828800"/>
            <a:ext cx="5212080" cy="2148840"/>
          </a:xfrm>
          <a:prstGeom prst="rect">
            <a:avLst/>
          </a:prstGeom>
          <a:solidFill>
            <a:srgbClr val="F1F5F9"/>
          </a:solidFill>
          <a:ln w="9525">
            <a:solidFill>
              <a:srgbClr val="1B5E83"/>
            </a:solidFill>
            <a:prstDash val="solid"/>
          </a:ln>
        </p:spPr>
      </p:sp>
      <p:sp>
        <p:nvSpPr>
          <p:cNvPr id="8" name="Text 5"/>
          <p:cNvSpPr txBox="1"/>
          <p:nvPr/>
        </p:nvSpPr>
        <p:spPr>
          <a:xfrm>
            <a:off x="822960" y="1901952"/>
            <a:ext cx="5029200" cy="2002536"/>
          </a:xfrm>
          <a:prstGeom prst="rect">
            <a:avLst/>
          </a:prstGeom>
          <a:noFill/>
          <a:ln/>
        </p:spPr>
        <p:txBody>
          <a:bodyPr wrap="square" lIns="1016" tIns="1016" rIns="1016" bIns="1016" rtlCol="0" anchor="t"/>
          <a:lstStyle/>
          <a:p>
            <a:pPr marL="0" indent="0">
              <a:spcAft>
                <a:spcPts val="600"/>
              </a:spcAft>
              <a:buNone/>
            </a:pPr>
            <a:r>
              <a:rPr lang="en-US" sz="2000" b="1" dirty="0">
                <a:solidFill>
                  <a:srgbClr val="1B5E83"/>
                </a:solidFill>
                <a:latin typeface="Calibri" pitchFamily="34" charset="0"/>
                <a:ea typeface="Calibri" pitchFamily="34" charset="-122"/>
                <a:cs typeface="Calibri" pitchFamily="34" charset="-120"/>
              </a:rPr>
              <a:t>The project</a:t>
            </a:r>
            <a:endParaRPr lang="en-US" sz="2000" dirty="0"/>
          </a:p>
          <a:p>
            <a:pPr marL="0" indent="0">
              <a:buNone/>
            </a:pPr>
            <a:r>
              <a:rPr lang="en-US" sz="1800" dirty="0">
                <a:solidFill>
                  <a:srgbClr val="1F2937"/>
                </a:solidFill>
                <a:latin typeface="Calibri" pitchFamily="34" charset="0"/>
                <a:ea typeface="Calibri" pitchFamily="34" charset="-122"/>
                <a:cs typeface="Calibri" pitchFamily="34" charset="-120"/>
              </a:rPr>
              <a:t>A data analytics system that analyzes YouTube trending videos to show what drives content to trend: top categories, countries and channel types.</a:t>
            </a:r>
            <a:endParaRPr lang="en-US" sz="2000" dirty="0"/>
          </a:p>
        </p:txBody>
      </p:sp>
      <p:sp>
        <p:nvSpPr>
          <p:cNvPr id="9" name="Shape 6"/>
          <p:cNvSpPr/>
          <p:nvPr/>
        </p:nvSpPr>
        <p:spPr>
          <a:xfrm>
            <a:off x="6309360" y="1828800"/>
            <a:ext cx="5212080" cy="2148840"/>
          </a:xfrm>
          <a:prstGeom prst="rect">
            <a:avLst/>
          </a:prstGeom>
          <a:solidFill>
            <a:srgbClr val="F1F5F9"/>
          </a:solidFill>
          <a:ln w="9525">
            <a:solidFill>
              <a:srgbClr val="1B5E83"/>
            </a:solidFill>
            <a:prstDash val="solid"/>
          </a:ln>
        </p:spPr>
      </p:sp>
      <p:sp>
        <p:nvSpPr>
          <p:cNvPr id="10" name="Text 7"/>
          <p:cNvSpPr txBox="1"/>
          <p:nvPr/>
        </p:nvSpPr>
        <p:spPr>
          <a:xfrm>
            <a:off x="6400800" y="1901952"/>
            <a:ext cx="5029200" cy="2002536"/>
          </a:xfrm>
          <a:prstGeom prst="rect">
            <a:avLst/>
          </a:prstGeom>
          <a:noFill/>
          <a:ln/>
        </p:spPr>
        <p:txBody>
          <a:bodyPr wrap="square" lIns="1016" tIns="1016" rIns="1016" bIns="1016" rtlCol="0" anchor="t"/>
          <a:lstStyle/>
          <a:p>
            <a:pPr marL="0" indent="0">
              <a:spcAft>
                <a:spcPts val="600"/>
              </a:spcAft>
              <a:buNone/>
            </a:pPr>
            <a:r>
              <a:rPr lang="en-US" sz="2000" b="1" dirty="0">
                <a:solidFill>
                  <a:srgbClr val="1B5E83"/>
                </a:solidFill>
                <a:latin typeface="Calibri" pitchFamily="34" charset="0"/>
                <a:ea typeface="Calibri" pitchFamily="34" charset="-122"/>
                <a:cs typeface="Calibri" pitchFamily="34" charset="-120"/>
              </a:rPr>
              <a:t>Problem</a:t>
            </a:r>
            <a:endParaRPr lang="en-US" sz="2000" dirty="0"/>
          </a:p>
          <a:p>
            <a:pPr marL="0" indent="0">
              <a:buNone/>
            </a:pPr>
            <a:r>
              <a:rPr lang="en-US" sz="1800" dirty="0">
                <a:solidFill>
                  <a:srgbClr val="1F2937"/>
                </a:solidFill>
                <a:latin typeface="Calibri" pitchFamily="34" charset="0"/>
                <a:ea typeface="Calibri" pitchFamily="34" charset="-122"/>
                <a:cs typeface="Calibri" pitchFamily="34" charset="-120"/>
              </a:rPr>
              <a:t>Trending video data is huge and hard to interpret manually. Views, likes, comments and duration are difficult to compare across videos.</a:t>
            </a:r>
            <a:endParaRPr lang="en-US" sz="2000" dirty="0"/>
          </a:p>
        </p:txBody>
      </p:sp>
      <p:sp>
        <p:nvSpPr>
          <p:cNvPr id="11" name="Shape 8"/>
          <p:cNvSpPr/>
          <p:nvPr/>
        </p:nvSpPr>
        <p:spPr>
          <a:xfrm>
            <a:off x="731520" y="4206240"/>
            <a:ext cx="5212080" cy="2011680"/>
          </a:xfrm>
          <a:prstGeom prst="rect">
            <a:avLst/>
          </a:prstGeom>
          <a:solidFill>
            <a:srgbClr val="F1F5F9"/>
          </a:solidFill>
          <a:ln w="9525">
            <a:solidFill>
              <a:srgbClr val="1B5E83"/>
            </a:solidFill>
            <a:prstDash val="solid"/>
          </a:ln>
        </p:spPr>
      </p:sp>
      <p:sp>
        <p:nvSpPr>
          <p:cNvPr id="12" name="Text 9"/>
          <p:cNvSpPr txBox="1"/>
          <p:nvPr/>
        </p:nvSpPr>
        <p:spPr>
          <a:xfrm>
            <a:off x="822960" y="4279392"/>
            <a:ext cx="5029200" cy="1865376"/>
          </a:xfrm>
          <a:prstGeom prst="rect">
            <a:avLst/>
          </a:prstGeom>
          <a:noFill/>
          <a:ln/>
        </p:spPr>
        <p:txBody>
          <a:bodyPr wrap="square" lIns="1016" tIns="1016" rIns="1016" bIns="1016" rtlCol="0" anchor="t"/>
          <a:lstStyle/>
          <a:p>
            <a:pPr marL="0" indent="0">
              <a:spcAft>
                <a:spcPts val="600"/>
              </a:spcAft>
              <a:buNone/>
            </a:pPr>
            <a:r>
              <a:rPr lang="en-US" sz="2000" b="1" dirty="0">
                <a:solidFill>
                  <a:srgbClr val="1B5E83"/>
                </a:solidFill>
                <a:latin typeface="Calibri" pitchFamily="34" charset="0"/>
                <a:ea typeface="Calibri" pitchFamily="34" charset="-122"/>
                <a:cs typeface="Calibri" pitchFamily="34" charset="-120"/>
              </a:rPr>
              <a:t>Proposed solution</a:t>
            </a:r>
            <a:endParaRPr lang="en-US" sz="2000" dirty="0"/>
          </a:p>
          <a:p>
            <a:pPr marL="0" indent="0">
              <a:buNone/>
            </a:pPr>
            <a:r>
              <a:rPr lang="en-US" sz="1800" dirty="0">
                <a:solidFill>
                  <a:srgbClr val="1F2937"/>
                </a:solidFill>
                <a:latin typeface="Calibri" pitchFamily="34" charset="0"/>
                <a:ea typeface="Calibri" pitchFamily="34" charset="-122"/>
                <a:cs typeface="Calibri" pitchFamily="34" charset="-120"/>
              </a:rPr>
              <a:t>An automated pipeline (Load, Clean, Transform, Visualize) in Python with Pandas and NumPy, and an interactive Streamlit dashboard for creators, marketers and analysts.</a:t>
            </a:r>
            <a:endParaRPr lang="en-US" sz="2000" dirty="0"/>
          </a:p>
        </p:txBody>
      </p:sp>
      <p:sp>
        <p:nvSpPr>
          <p:cNvPr id="13" name="Shape 10"/>
          <p:cNvSpPr/>
          <p:nvPr/>
        </p:nvSpPr>
        <p:spPr>
          <a:xfrm>
            <a:off x="6309360" y="4206240"/>
            <a:ext cx="5212080" cy="2011680"/>
          </a:xfrm>
          <a:prstGeom prst="rect">
            <a:avLst/>
          </a:prstGeom>
          <a:solidFill>
            <a:srgbClr val="F1F5F9"/>
          </a:solidFill>
          <a:ln w="9525">
            <a:solidFill>
              <a:srgbClr val="1B5E83"/>
            </a:solidFill>
            <a:prstDash val="solid"/>
          </a:ln>
        </p:spPr>
      </p:sp>
      <p:sp>
        <p:nvSpPr>
          <p:cNvPr id="14" name="Text 11"/>
          <p:cNvSpPr txBox="1"/>
          <p:nvPr/>
        </p:nvSpPr>
        <p:spPr>
          <a:xfrm>
            <a:off x="6400800" y="4279392"/>
            <a:ext cx="5029200" cy="1865376"/>
          </a:xfrm>
          <a:prstGeom prst="rect">
            <a:avLst/>
          </a:prstGeom>
          <a:noFill/>
          <a:ln/>
        </p:spPr>
        <p:txBody>
          <a:bodyPr wrap="square" lIns="1016" tIns="1016" rIns="1016" bIns="1016" rtlCol="0" anchor="t"/>
          <a:lstStyle/>
          <a:p>
            <a:pPr marL="0" indent="0">
              <a:spcAft>
                <a:spcPts val="600"/>
              </a:spcAft>
              <a:buNone/>
            </a:pPr>
            <a:r>
              <a:rPr lang="en-US" sz="2000" b="1" dirty="0">
                <a:solidFill>
                  <a:srgbClr val="1B5E83"/>
                </a:solidFill>
                <a:latin typeface="Calibri" pitchFamily="34" charset="0"/>
                <a:ea typeface="Calibri" pitchFamily="34" charset="-122"/>
                <a:cs typeface="Calibri" pitchFamily="34" charset="-120"/>
              </a:rPr>
              <a:t>Data used</a:t>
            </a:r>
            <a:endParaRPr lang="en-US" sz="2000" dirty="0"/>
          </a:p>
          <a:p>
            <a:pPr marL="0" indent="0">
              <a:buNone/>
            </a:pPr>
            <a:r>
              <a:rPr lang="en-US" sz="1800" dirty="0">
                <a:solidFill>
                  <a:srgbClr val="1F2937"/>
                </a:solidFill>
                <a:latin typeface="Calibri" pitchFamily="34" charset="0"/>
                <a:ea typeface="Calibri" pitchFamily="34" charset="-122"/>
                <a:cs typeface="Calibri" pitchFamily="34" charset="-120"/>
              </a:rPr>
              <a:t>youtube_large_dataset.xlsx (sheet "Data"): title, channel, channel tier, category, country, views, likes, comments, duration, publish and trending dates.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Implementation Pipeline and Modules Completed</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731520" y="1783080"/>
            <a:ext cx="1645920" cy="594360"/>
          </a:xfrm>
          <a:prstGeom prst="roundRect">
            <a:avLst>
              <a:gd name="adj" fmla="val 12308"/>
            </a:avLst>
          </a:prstGeom>
          <a:solidFill>
            <a:srgbClr val="1B5E83"/>
          </a:solidFill>
          <a:ln w="12700">
            <a:solidFill>
              <a:srgbClr val="1B5E83"/>
            </a:solidFill>
            <a:prstDash val="solid"/>
          </a:ln>
        </p:spPr>
      </p:sp>
      <p:sp>
        <p:nvSpPr>
          <p:cNvPr id="8" name="Text 5"/>
          <p:cNvSpPr txBox="1"/>
          <p:nvPr/>
        </p:nvSpPr>
        <p:spPr>
          <a:xfrm>
            <a:off x="731520" y="1783080"/>
            <a:ext cx="1645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  Load</a:t>
            </a:r>
            <a:endParaRPr lang="en-US" sz="1600" dirty="0"/>
          </a:p>
        </p:txBody>
      </p:sp>
      <p:sp>
        <p:nvSpPr>
          <p:cNvPr id="9" name="Shape 6"/>
          <p:cNvSpPr/>
          <p:nvPr/>
        </p:nvSpPr>
        <p:spPr>
          <a:xfrm>
            <a:off x="2395728" y="1938528"/>
            <a:ext cx="146304" cy="274320"/>
          </a:xfrm>
          <a:prstGeom prst="rightArrow">
            <a:avLst/>
          </a:prstGeom>
          <a:solidFill>
            <a:srgbClr val="E8742C"/>
          </a:solidFill>
          <a:ln w="12700">
            <a:solidFill>
              <a:srgbClr val="E8742C"/>
            </a:solidFill>
            <a:prstDash val="solid"/>
          </a:ln>
        </p:spPr>
      </p:sp>
      <p:sp>
        <p:nvSpPr>
          <p:cNvPr id="10" name="Shape 7"/>
          <p:cNvSpPr/>
          <p:nvPr/>
        </p:nvSpPr>
        <p:spPr>
          <a:xfrm>
            <a:off x="2560320" y="1783080"/>
            <a:ext cx="1645920" cy="594360"/>
          </a:xfrm>
          <a:prstGeom prst="roundRect">
            <a:avLst>
              <a:gd name="adj" fmla="val 12308"/>
            </a:avLst>
          </a:prstGeom>
          <a:solidFill>
            <a:srgbClr val="1B5E83"/>
          </a:solidFill>
          <a:ln w="12700">
            <a:solidFill>
              <a:srgbClr val="1B5E83"/>
            </a:solidFill>
            <a:prstDash val="solid"/>
          </a:ln>
        </p:spPr>
      </p:sp>
      <p:sp>
        <p:nvSpPr>
          <p:cNvPr id="11" name="Text 8"/>
          <p:cNvSpPr txBox="1"/>
          <p:nvPr/>
        </p:nvSpPr>
        <p:spPr>
          <a:xfrm>
            <a:off x="2560320" y="1783080"/>
            <a:ext cx="1645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  Clean</a:t>
            </a:r>
            <a:endParaRPr lang="en-US" sz="1600" dirty="0"/>
          </a:p>
        </p:txBody>
      </p:sp>
      <p:sp>
        <p:nvSpPr>
          <p:cNvPr id="12" name="Shape 9"/>
          <p:cNvSpPr/>
          <p:nvPr/>
        </p:nvSpPr>
        <p:spPr>
          <a:xfrm>
            <a:off x="4224528" y="1938528"/>
            <a:ext cx="146304" cy="274320"/>
          </a:xfrm>
          <a:prstGeom prst="rightArrow">
            <a:avLst/>
          </a:prstGeom>
          <a:solidFill>
            <a:srgbClr val="E8742C"/>
          </a:solidFill>
          <a:ln w="12700">
            <a:solidFill>
              <a:srgbClr val="E8742C"/>
            </a:solidFill>
            <a:prstDash val="solid"/>
          </a:ln>
        </p:spPr>
      </p:sp>
      <p:sp>
        <p:nvSpPr>
          <p:cNvPr id="13" name="Shape 10"/>
          <p:cNvSpPr/>
          <p:nvPr/>
        </p:nvSpPr>
        <p:spPr>
          <a:xfrm>
            <a:off x="4389120" y="1783080"/>
            <a:ext cx="1645920" cy="594360"/>
          </a:xfrm>
          <a:prstGeom prst="roundRect">
            <a:avLst>
              <a:gd name="adj" fmla="val 12308"/>
            </a:avLst>
          </a:prstGeom>
          <a:solidFill>
            <a:srgbClr val="1B5E83"/>
          </a:solidFill>
          <a:ln w="12700">
            <a:solidFill>
              <a:srgbClr val="1B5E83"/>
            </a:solidFill>
            <a:prstDash val="solid"/>
          </a:ln>
        </p:spPr>
      </p:sp>
      <p:sp>
        <p:nvSpPr>
          <p:cNvPr id="14" name="Text 11"/>
          <p:cNvSpPr txBox="1"/>
          <p:nvPr/>
        </p:nvSpPr>
        <p:spPr>
          <a:xfrm>
            <a:off x="4389120" y="1783080"/>
            <a:ext cx="1645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  Transform</a:t>
            </a:r>
            <a:endParaRPr lang="en-US" sz="1600" dirty="0"/>
          </a:p>
        </p:txBody>
      </p:sp>
      <p:sp>
        <p:nvSpPr>
          <p:cNvPr id="15" name="Shape 12"/>
          <p:cNvSpPr/>
          <p:nvPr/>
        </p:nvSpPr>
        <p:spPr>
          <a:xfrm>
            <a:off x="6053328" y="1938528"/>
            <a:ext cx="146304" cy="274320"/>
          </a:xfrm>
          <a:prstGeom prst="rightArrow">
            <a:avLst/>
          </a:prstGeom>
          <a:solidFill>
            <a:srgbClr val="E8742C"/>
          </a:solidFill>
          <a:ln w="12700">
            <a:solidFill>
              <a:srgbClr val="E8742C"/>
            </a:solidFill>
            <a:prstDash val="solid"/>
          </a:ln>
        </p:spPr>
      </p:sp>
      <p:sp>
        <p:nvSpPr>
          <p:cNvPr id="16" name="Shape 13"/>
          <p:cNvSpPr/>
          <p:nvPr/>
        </p:nvSpPr>
        <p:spPr>
          <a:xfrm>
            <a:off x="6217920" y="1783080"/>
            <a:ext cx="1645920" cy="594360"/>
          </a:xfrm>
          <a:prstGeom prst="roundRect">
            <a:avLst>
              <a:gd name="adj" fmla="val 12308"/>
            </a:avLst>
          </a:prstGeom>
          <a:solidFill>
            <a:srgbClr val="1B5E83"/>
          </a:solidFill>
          <a:ln w="12700">
            <a:solidFill>
              <a:srgbClr val="1B5E83"/>
            </a:solidFill>
            <a:prstDash val="solid"/>
          </a:ln>
        </p:spPr>
      </p:sp>
      <p:sp>
        <p:nvSpPr>
          <p:cNvPr id="17" name="Text 14"/>
          <p:cNvSpPr txBox="1"/>
          <p:nvPr/>
        </p:nvSpPr>
        <p:spPr>
          <a:xfrm>
            <a:off x="6217920" y="1783080"/>
            <a:ext cx="1645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  Filter</a:t>
            </a:r>
            <a:endParaRPr lang="en-US" sz="1600" dirty="0"/>
          </a:p>
        </p:txBody>
      </p:sp>
      <p:sp>
        <p:nvSpPr>
          <p:cNvPr id="18" name="Shape 15"/>
          <p:cNvSpPr/>
          <p:nvPr/>
        </p:nvSpPr>
        <p:spPr>
          <a:xfrm>
            <a:off x="7882128" y="1938528"/>
            <a:ext cx="146304" cy="274320"/>
          </a:xfrm>
          <a:prstGeom prst="rightArrow">
            <a:avLst/>
          </a:prstGeom>
          <a:solidFill>
            <a:srgbClr val="E8742C"/>
          </a:solidFill>
          <a:ln w="12700">
            <a:solidFill>
              <a:srgbClr val="E8742C"/>
            </a:solidFill>
            <a:prstDash val="solid"/>
          </a:ln>
        </p:spPr>
      </p:sp>
      <p:sp>
        <p:nvSpPr>
          <p:cNvPr id="19" name="Shape 16"/>
          <p:cNvSpPr/>
          <p:nvPr/>
        </p:nvSpPr>
        <p:spPr>
          <a:xfrm>
            <a:off x="8046720" y="1783080"/>
            <a:ext cx="1645920" cy="594360"/>
          </a:xfrm>
          <a:prstGeom prst="roundRect">
            <a:avLst>
              <a:gd name="adj" fmla="val 12308"/>
            </a:avLst>
          </a:prstGeom>
          <a:solidFill>
            <a:srgbClr val="1B5E83"/>
          </a:solidFill>
          <a:ln w="12700">
            <a:solidFill>
              <a:srgbClr val="1B5E83"/>
            </a:solidFill>
            <a:prstDash val="solid"/>
          </a:ln>
        </p:spPr>
      </p:sp>
      <p:sp>
        <p:nvSpPr>
          <p:cNvPr id="20" name="Text 17"/>
          <p:cNvSpPr txBox="1"/>
          <p:nvPr/>
        </p:nvSpPr>
        <p:spPr>
          <a:xfrm>
            <a:off x="8046720" y="1783080"/>
            <a:ext cx="1645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  Visualize</a:t>
            </a:r>
            <a:endParaRPr lang="en-US" sz="1600" dirty="0"/>
          </a:p>
        </p:txBody>
      </p:sp>
      <p:sp>
        <p:nvSpPr>
          <p:cNvPr id="21" name="Shape 18"/>
          <p:cNvSpPr/>
          <p:nvPr/>
        </p:nvSpPr>
        <p:spPr>
          <a:xfrm>
            <a:off x="9710928" y="1938528"/>
            <a:ext cx="146304" cy="274320"/>
          </a:xfrm>
          <a:prstGeom prst="rightArrow">
            <a:avLst/>
          </a:prstGeom>
          <a:solidFill>
            <a:srgbClr val="E8742C"/>
          </a:solidFill>
          <a:ln w="12700">
            <a:solidFill>
              <a:srgbClr val="E8742C"/>
            </a:solidFill>
            <a:prstDash val="solid"/>
          </a:ln>
        </p:spPr>
      </p:sp>
      <p:sp>
        <p:nvSpPr>
          <p:cNvPr id="22" name="Shape 19"/>
          <p:cNvSpPr/>
          <p:nvPr/>
        </p:nvSpPr>
        <p:spPr>
          <a:xfrm>
            <a:off x="9875520" y="1783080"/>
            <a:ext cx="1645920" cy="594360"/>
          </a:xfrm>
          <a:prstGeom prst="roundRect">
            <a:avLst>
              <a:gd name="adj" fmla="val 12308"/>
            </a:avLst>
          </a:prstGeom>
          <a:solidFill>
            <a:srgbClr val="1F2937"/>
          </a:solidFill>
          <a:ln w="12700">
            <a:solidFill>
              <a:srgbClr val="1F2937"/>
            </a:solidFill>
            <a:prstDash val="solid"/>
          </a:ln>
        </p:spPr>
      </p:sp>
      <p:sp>
        <p:nvSpPr>
          <p:cNvPr id="23" name="Text 20"/>
          <p:cNvSpPr txBox="1"/>
          <p:nvPr/>
        </p:nvSpPr>
        <p:spPr>
          <a:xfrm>
            <a:off x="9857232" y="1737360"/>
            <a:ext cx="1645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  Insights</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20070690"/>
              </p:ext>
            </p:extLst>
          </p:nvPr>
        </p:nvGraphicFramePr>
        <p:xfrm>
          <a:off x="731520" y="2697480"/>
          <a:ext cx="10789920" cy="3520440"/>
        </p:xfrm>
        <a:graphic>
          <a:graphicData uri="http://schemas.openxmlformats.org/drawingml/2006/table">
            <a:tbl>
              <a:tblPr/>
              <a:tblGrid>
                <a:gridCol w="283464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0292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Module</a:t>
                      </a:r>
                      <a:endParaRPr lang="en-US" sz="14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5E8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5E8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5E83"/>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1B5E83"/>
                          </a:solidFill>
                          <a:latin typeface="Calibri" pitchFamily="34" charset="0"/>
                          <a:ea typeface="Calibri" pitchFamily="34" charset="-122"/>
                          <a:cs typeface="Calibri" pitchFamily="34" charset="-120"/>
                        </a:rPr>
                        <a:t>Data Loading</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Reads youtube_large_dataset.xlsx (sheet "Data") using Pandas</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300" b="1" dirty="0">
                          <a:solidFill>
                            <a:srgbClr val="15803D"/>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1B5E83"/>
                          </a:solidFill>
                          <a:latin typeface="Calibri" pitchFamily="34" charset="0"/>
                          <a:ea typeface="Calibri" pitchFamily="34" charset="-122"/>
                          <a:cs typeface="Calibri" pitchFamily="34" charset="-120"/>
                        </a:rPr>
                        <a:t>Data Cleaning</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Standardises names, removes duplicates, fixes types and missing values</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5803D"/>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1B5E83"/>
                          </a:solidFill>
                          <a:latin typeface="Calibri" pitchFamily="34" charset="0"/>
                          <a:ea typeface="Calibri" pitchFamily="34" charset="-122"/>
                          <a:cs typeface="Calibri" pitchFamily="34" charset="-120"/>
                        </a:rPr>
                        <a:t>Transformation</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Adds engagement_rate, like_rate, log10_views and trend_month</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300" b="1" dirty="0">
                          <a:solidFill>
                            <a:srgbClr val="15803D"/>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1B5E83"/>
                          </a:solidFill>
                          <a:latin typeface="Calibri" pitchFamily="34" charset="0"/>
                          <a:ea typeface="Calibri" pitchFamily="34" charset="-122"/>
                          <a:cs typeface="Calibri" pitchFamily="34" charset="-120"/>
                        </a:rPr>
                        <a:t>Filters and Sorting</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Search, tier, category, country, view-range filters; sort and top-N</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5803D"/>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300" b="1" dirty="0">
                          <a:solidFill>
                            <a:srgbClr val="1B5E83"/>
                          </a:solidFill>
                          <a:latin typeface="Calibri" pitchFamily="34" charset="0"/>
                          <a:ea typeface="Calibri" pitchFamily="34" charset="-122"/>
                          <a:cs typeface="Calibri" pitchFamily="34" charset="-120"/>
                        </a:rPr>
                        <a:t>Dashboard (Streamlit + Plotly)</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KPI cards, bar / pie / line charts, sorted table, CSV download, insights</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300" b="1" dirty="0">
                          <a:solidFill>
                            <a:srgbClr val="15803D"/>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5"/>
                  </a:ext>
                </a:extLst>
              </a:tr>
              <a:tr h="502920">
                <a:tc>
                  <a:txBody>
                    <a:bodyPr/>
                    <a:lstStyle/>
                    <a:p>
                      <a:pPr marL="0" indent="0">
                        <a:buNone/>
                      </a:pPr>
                      <a:r>
                        <a:rPr lang="en-US" sz="1300" b="1" dirty="0">
                          <a:solidFill>
                            <a:srgbClr val="1B5E83"/>
                          </a:solidFill>
                          <a:latin typeface="Calibri" pitchFamily="34" charset="0"/>
                          <a:ea typeface="Calibri" pitchFamily="34" charset="-122"/>
                          <a:cs typeface="Calibri" pitchFamily="34" charset="-120"/>
                        </a:rPr>
                        <a:t>Testing and report</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Checking outputs with different filters and writing the final report</a:t>
                      </a:r>
                      <a:endParaRPr lang="en-US" sz="1300" dirty="0">
                        <a:latin typeface="Calibri" charset="0"/>
                        <a:ea typeface="Calibri" charset="0"/>
                        <a:cs typeface="Calibri" charset="0"/>
                      </a:endParaRP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92D050"/>
                          </a:solidFill>
                          <a:latin typeface="Calibri" charset="0"/>
                          <a:ea typeface="Calibri" charset="0"/>
                          <a:cs typeface="Calibri" charset="0"/>
                        </a:rPr>
                        <a:t>Done</a:t>
                      </a:r>
                    </a:p>
                  </a:txBody>
                  <a:tcPr marL="109728" marR="109728"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extLst>
                  <a:ext uri="{0D108BD9-81ED-4DB2-BD59-A6C34878D82A}">
                    <a16:rowId xmlns:a16="http://schemas.microsoft.com/office/drawing/2014/main" val="10006"/>
                  </a:ext>
                </a:extLst>
              </a:tr>
            </a:tbl>
          </a:graphicData>
        </a:graphic>
      </p:graphicFrame>
      <p:sp>
        <p:nvSpPr>
          <p:cNvPr id="25" name="Rectangle 24">
            <a:extLst>
              <a:ext uri="{FF2B5EF4-FFF2-40B4-BE49-F238E27FC236}">
                <a16:creationId xmlns:a16="http://schemas.microsoft.com/office/drawing/2014/main" id="{E2D5D470-3BD0-0794-0AB2-9A2A9015E876}"/>
              </a:ext>
            </a:extLst>
          </p:cNvPr>
          <p:cNvSpPr/>
          <p:nvPr/>
        </p:nvSpPr>
        <p:spPr>
          <a:xfrm>
            <a:off x="9884664" y="1787652"/>
            <a:ext cx="1655064" cy="594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FFFFFF"/>
              </a:solidFill>
              <a:latin typeface="Calibri" pitchFamily="34" charset="0"/>
              <a:ea typeface="Calibri" pitchFamily="34" charset="-122"/>
              <a:cs typeface="Calibri" pitchFamily="34" charset="-120"/>
            </a:endParaRPr>
          </a:p>
          <a:p>
            <a:pPr algn="ctr"/>
            <a:r>
              <a:rPr lang="en-US" b="1" dirty="0">
                <a:solidFill>
                  <a:srgbClr val="FFFFFF"/>
                </a:solidFill>
                <a:latin typeface="Calibri" pitchFamily="34" charset="0"/>
                <a:ea typeface="Calibri" pitchFamily="34" charset="-122"/>
                <a:cs typeface="Calibri" pitchFamily="34" charset="-120"/>
              </a:rPr>
              <a:t>6  Insights</a:t>
            </a:r>
            <a:endParaRPr lang="en-US" dirty="0"/>
          </a:p>
          <a:p>
            <a:pPr algn="ctr"/>
            <a:endParaRPr lang="en-IN" dirty="0"/>
          </a:p>
        </p:txBody>
      </p:sp>
      <p:sp>
        <p:nvSpPr>
          <p:cNvPr id="26" name="Rectangle 25">
            <a:extLst>
              <a:ext uri="{FF2B5EF4-FFF2-40B4-BE49-F238E27FC236}">
                <a16:creationId xmlns:a16="http://schemas.microsoft.com/office/drawing/2014/main" id="{4C0DD977-B1C2-C1FC-CCFB-96EF8BDBB53D}"/>
              </a:ext>
            </a:extLst>
          </p:cNvPr>
          <p:cNvSpPr/>
          <p:nvPr/>
        </p:nvSpPr>
        <p:spPr>
          <a:xfrm>
            <a:off x="10142749" y="5731794"/>
            <a:ext cx="1378691" cy="4861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a:solidFill>
                <a:srgbClr val="15803D"/>
              </a:solidFill>
              <a:latin typeface="Calibri" pitchFamily="34" charset="0"/>
              <a:ea typeface="Calibri" pitchFamily="34" charset="-122"/>
              <a:cs typeface="Calibri" pitchFamily="34" charset="-120"/>
            </a:endParaRPr>
          </a:p>
          <a:p>
            <a:r>
              <a:rPr lang="en-US" sz="1400" b="1" dirty="0">
                <a:solidFill>
                  <a:srgbClr val="15803D"/>
                </a:solidFill>
                <a:latin typeface="Calibri" pitchFamily="34" charset="0"/>
                <a:ea typeface="Calibri" pitchFamily="34" charset="-122"/>
                <a:cs typeface="Calibri" pitchFamily="34" charset="-120"/>
              </a:rPr>
              <a:t>Done</a:t>
            </a:r>
            <a:endParaRPr lang="en-US" sz="1400" dirty="0">
              <a:latin typeface="Calibri" charset="0"/>
              <a:ea typeface="Calibri" charset="0"/>
              <a:cs typeface="Calibri" charset="0"/>
            </a:endParaRPr>
          </a:p>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Module 1: Data Loading</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pic>
        <p:nvPicPr>
          <p:cNvPr id="7" name="Image 1" descr="VS Code: load_data.py and its terminal output (6,090 rows, 15 columns)"/>
          <p:cNvPicPr>
            <a:picLocks noChangeAspect="1"/>
          </p:cNvPicPr>
          <p:nvPr/>
        </p:nvPicPr>
        <p:blipFill>
          <a:blip r:embed="rId4"/>
          <a:stretch>
            <a:fillRect/>
          </a:stretch>
        </p:blipFill>
        <p:spPr>
          <a:xfrm>
            <a:off x="907869" y="2011680"/>
            <a:ext cx="5408023" cy="4205013"/>
          </a:xfrm>
          <a:prstGeom prst="rect">
            <a:avLst/>
          </a:prstGeom>
        </p:spPr>
      </p:pic>
      <p:sp>
        <p:nvSpPr>
          <p:cNvPr id="8" name="Shape 4"/>
          <p:cNvSpPr/>
          <p:nvPr/>
        </p:nvSpPr>
        <p:spPr>
          <a:xfrm>
            <a:off x="907869" y="2011680"/>
            <a:ext cx="5408023" cy="4205013"/>
          </a:xfrm>
          <a:prstGeom prst="rect">
            <a:avLst/>
          </a:prstGeom>
          <a:ln w="12700">
            <a:solidFill>
              <a:srgbClr val="1B5E83"/>
            </a:solidFill>
            <a:prstDash val="solid"/>
          </a:ln>
        </p:spPr>
      </p:sp>
      <p:sp>
        <p:nvSpPr>
          <p:cNvPr id="9" name="Shape 5"/>
          <p:cNvSpPr/>
          <p:nvPr/>
        </p:nvSpPr>
        <p:spPr>
          <a:xfrm>
            <a:off x="4944291" y="1764792"/>
            <a:ext cx="1280160" cy="201168"/>
          </a:xfrm>
          <a:prstGeom prst="roundRect">
            <a:avLst>
              <a:gd name="adj" fmla="val 22727"/>
            </a:avLst>
          </a:prstGeom>
          <a:solidFill>
            <a:srgbClr val="E8742C"/>
          </a:solidFill>
          <a:ln w="12700">
            <a:solidFill>
              <a:srgbClr val="E8742C"/>
            </a:solidFill>
            <a:prstDash val="solid"/>
          </a:ln>
        </p:spPr>
      </p:sp>
      <p:sp>
        <p:nvSpPr>
          <p:cNvPr id="10" name="Text 6"/>
          <p:cNvSpPr txBox="1"/>
          <p:nvPr/>
        </p:nvSpPr>
        <p:spPr>
          <a:xfrm>
            <a:off x="4944291" y="1764792"/>
            <a:ext cx="12801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SAMPLE OUTPUT</a:t>
            </a:r>
            <a:endParaRPr lang="en-US" sz="900" dirty="0"/>
          </a:p>
        </p:txBody>
      </p:sp>
      <p:sp>
        <p:nvSpPr>
          <p:cNvPr id="11" name="Shape 7"/>
          <p:cNvSpPr/>
          <p:nvPr/>
        </p:nvSpPr>
        <p:spPr>
          <a:xfrm>
            <a:off x="6766560" y="1783080"/>
            <a:ext cx="4754880" cy="2148840"/>
          </a:xfrm>
          <a:prstGeom prst="rect">
            <a:avLst/>
          </a:prstGeom>
          <a:solidFill>
            <a:srgbClr val="F1F5F9"/>
          </a:solidFill>
          <a:ln w="9525">
            <a:solidFill>
              <a:srgbClr val="1B5E83"/>
            </a:solidFill>
            <a:prstDash val="solid"/>
          </a:ln>
        </p:spPr>
      </p:sp>
      <p:sp>
        <p:nvSpPr>
          <p:cNvPr id="12" name="Text 8"/>
          <p:cNvSpPr txBox="1"/>
          <p:nvPr/>
        </p:nvSpPr>
        <p:spPr>
          <a:xfrm>
            <a:off x="6858000" y="1856232"/>
            <a:ext cx="4572000" cy="2002536"/>
          </a:xfrm>
          <a:prstGeom prst="rect">
            <a:avLst/>
          </a:prstGeom>
          <a:noFill/>
          <a:ln/>
        </p:spPr>
        <p:txBody>
          <a:bodyPr wrap="square" lIns="1016" tIns="1016" rIns="1016" bIns="1016" rtlCol="0" anchor="t"/>
          <a:lstStyle/>
          <a:p>
            <a:pPr marL="0" indent="0">
              <a:spcAft>
                <a:spcPts val="600"/>
              </a:spcAft>
              <a:buNone/>
            </a:pPr>
            <a:r>
              <a:rPr lang="en-US" sz="1600" b="1" dirty="0">
                <a:solidFill>
                  <a:srgbClr val="1B5E83"/>
                </a:solidFill>
                <a:latin typeface="Calibri" pitchFamily="34" charset="0"/>
                <a:ea typeface="Calibri" pitchFamily="34" charset="-122"/>
                <a:cs typeface="Calibri" pitchFamily="34" charset="-120"/>
              </a:rPr>
              <a:t>Data loaded</a:t>
            </a:r>
            <a:endParaRPr lang="en-US" sz="1600" dirty="0"/>
          </a:p>
          <a:p>
            <a:pPr marL="342900" indent="-3429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Video id, title, channel, channel tier</a:t>
            </a:r>
            <a:endParaRPr lang="en-US" sz="1600" dirty="0"/>
          </a:p>
          <a:p>
            <a:pPr marL="342900" indent="-3429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Category and country</a:t>
            </a:r>
            <a:endParaRPr lang="en-US" sz="1600" dirty="0"/>
          </a:p>
          <a:p>
            <a:pPr marL="342900" indent="-3429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Views, likes, dislikes, comments</a:t>
            </a:r>
            <a:endParaRPr lang="en-US" sz="1600" dirty="0"/>
          </a:p>
          <a:p>
            <a:pPr marL="342900" indent="-342900">
              <a:spcAft>
                <a:spcPts val="400"/>
              </a:spcAft>
              <a:buSzPct val="100000"/>
              <a:buChar char="•"/>
            </a:pPr>
            <a:r>
              <a:rPr lang="en-US" sz="1400" dirty="0">
                <a:solidFill>
                  <a:srgbClr val="1F2937"/>
                </a:solidFill>
                <a:latin typeface="Calibri" pitchFamily="34" charset="0"/>
                <a:ea typeface="Calibri" pitchFamily="34" charset="-122"/>
                <a:cs typeface="Calibri" pitchFamily="34" charset="-120"/>
              </a:rPr>
              <a:t>Duration, days to trend, dates</a:t>
            </a:r>
            <a:endParaRPr lang="en-US" sz="1600" dirty="0"/>
          </a:p>
        </p:txBody>
      </p:sp>
      <p:sp>
        <p:nvSpPr>
          <p:cNvPr id="13" name="Shape 9"/>
          <p:cNvSpPr/>
          <p:nvPr/>
        </p:nvSpPr>
        <p:spPr>
          <a:xfrm>
            <a:off x="6766560" y="4069080"/>
            <a:ext cx="4754880" cy="1005840"/>
          </a:xfrm>
          <a:prstGeom prst="rect">
            <a:avLst/>
          </a:prstGeom>
          <a:solidFill>
            <a:srgbClr val="F1F5F9"/>
          </a:solidFill>
          <a:ln w="9525">
            <a:solidFill>
              <a:srgbClr val="1B5E83"/>
            </a:solidFill>
            <a:prstDash val="solid"/>
          </a:ln>
        </p:spPr>
      </p:sp>
      <p:sp>
        <p:nvSpPr>
          <p:cNvPr id="14" name="Text 10"/>
          <p:cNvSpPr txBox="1"/>
          <p:nvPr/>
        </p:nvSpPr>
        <p:spPr>
          <a:xfrm>
            <a:off x="6858000" y="4142232"/>
            <a:ext cx="4572000" cy="859536"/>
          </a:xfrm>
          <a:prstGeom prst="rect">
            <a:avLst/>
          </a:prstGeom>
          <a:noFill/>
          <a:ln/>
        </p:spPr>
        <p:txBody>
          <a:bodyPr wrap="square" lIns="1016" tIns="1016" rIns="1016" bIns="1016" rtlCol="0" anchor="t"/>
          <a:lstStyle/>
          <a:p>
            <a:pPr marL="0" indent="0">
              <a:buNone/>
            </a:pPr>
            <a:r>
              <a:rPr lang="en-US" sz="1200" dirty="0">
                <a:solidFill>
                  <a:srgbClr val="15803D"/>
                </a:solidFill>
                <a:latin typeface="Consolas" pitchFamily="34" charset="0"/>
                <a:ea typeface="Consolas" pitchFamily="34" charset="-122"/>
                <a:cs typeface="Consolas" pitchFamily="34" charset="-120"/>
              </a:rPr>
              <a:t># Load the Excel sheet named "Data"</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df = pd.read_excel(raw_path, sheet_name="Data")</a:t>
            </a:r>
            <a:endParaRPr lang="en-US" sz="1200" dirty="0"/>
          </a:p>
        </p:txBody>
      </p:sp>
      <p:sp>
        <p:nvSpPr>
          <p:cNvPr id="15" name="Shape 11"/>
          <p:cNvSpPr/>
          <p:nvPr/>
        </p:nvSpPr>
        <p:spPr>
          <a:xfrm>
            <a:off x="6766560" y="5212080"/>
            <a:ext cx="4754880" cy="1005840"/>
          </a:xfrm>
          <a:prstGeom prst="rect">
            <a:avLst/>
          </a:prstGeom>
          <a:solidFill>
            <a:srgbClr val="F1F5F9"/>
          </a:solidFill>
          <a:ln w="9525">
            <a:solidFill>
              <a:srgbClr val="1B5E83"/>
            </a:solidFill>
            <a:prstDash val="solid"/>
          </a:ln>
        </p:spPr>
      </p:sp>
      <p:sp>
        <p:nvSpPr>
          <p:cNvPr id="16" name="Text 12"/>
          <p:cNvSpPr txBox="1"/>
          <p:nvPr/>
        </p:nvSpPr>
        <p:spPr>
          <a:xfrm>
            <a:off x="6858000" y="5285232"/>
            <a:ext cx="4572000" cy="859536"/>
          </a:xfrm>
          <a:prstGeom prst="rect">
            <a:avLst/>
          </a:prstGeom>
          <a:noFill/>
          <a:ln/>
        </p:spPr>
        <p:txBody>
          <a:bodyPr wrap="square" lIns="1016" tIns="1016" rIns="1016" bIns="1016" rtlCol="0" anchor="t"/>
          <a:lstStyle/>
          <a:p>
            <a:pPr marL="0" indent="0">
              <a:spcAft>
                <a:spcPts val="600"/>
              </a:spcAft>
              <a:buNone/>
            </a:pPr>
            <a:r>
              <a:rPr lang="en-US" sz="1500" b="1" dirty="0">
                <a:solidFill>
                  <a:srgbClr val="1B5E83"/>
                </a:solidFill>
                <a:latin typeface="Calibri" pitchFamily="34" charset="0"/>
                <a:ea typeface="Calibri" pitchFamily="34" charset="-122"/>
                <a:cs typeface="Calibri" pitchFamily="34" charset="-120"/>
              </a:rPr>
              <a:t>Tools used</a:t>
            </a:r>
            <a:endParaRPr lang="en-US" sz="1500" dirty="0"/>
          </a:p>
          <a:p>
            <a:pPr marL="0" indent="0">
              <a:buNone/>
            </a:pPr>
            <a:r>
              <a:rPr lang="en-US" sz="1300" dirty="0">
                <a:solidFill>
                  <a:srgbClr val="1F2937"/>
                </a:solidFill>
                <a:latin typeface="Calibri" pitchFamily="34" charset="0"/>
                <a:ea typeface="Calibri" pitchFamily="34" charset="-122"/>
                <a:cs typeface="Calibri" pitchFamily="34" charset="-120"/>
              </a:rPr>
              <a:t>Pandas (load, clean), NumPy (median, log10), Plotly (charts), Streamlit (dashboard)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Module 2: Data Cleaning (Steps 1 to 5)</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731520" y="1783080"/>
            <a:ext cx="6766560" cy="4389120"/>
          </a:xfrm>
          <a:prstGeom prst="rect">
            <a:avLst/>
          </a:prstGeom>
          <a:solidFill>
            <a:srgbClr val="F1F5F9"/>
          </a:solidFill>
          <a:ln w="9525">
            <a:solidFill>
              <a:srgbClr val="1B5E83"/>
            </a:solidFill>
            <a:prstDash val="solid"/>
          </a:ln>
        </p:spPr>
      </p:sp>
      <p:sp>
        <p:nvSpPr>
          <p:cNvPr id="8" name="Text 5"/>
          <p:cNvSpPr txBox="1"/>
          <p:nvPr/>
        </p:nvSpPr>
        <p:spPr>
          <a:xfrm>
            <a:off x="822960" y="1856232"/>
            <a:ext cx="6583680" cy="4242816"/>
          </a:xfrm>
          <a:prstGeom prst="rect">
            <a:avLst/>
          </a:prstGeom>
          <a:noFill/>
          <a:ln/>
        </p:spPr>
        <p:txBody>
          <a:bodyPr wrap="square" lIns="1016" tIns="1016" rIns="1016" bIns="1016" rtlCol="0" anchor="t"/>
          <a:lstStyle/>
          <a:p>
            <a:pPr marL="0" indent="0">
              <a:buNone/>
            </a:pPr>
            <a:r>
              <a:rPr lang="en-US" sz="1200" dirty="0">
                <a:solidFill>
                  <a:srgbClr val="15803D"/>
                </a:solidFill>
                <a:latin typeface="Consolas" pitchFamily="34" charset="0"/>
                <a:ea typeface="Consolas" pitchFamily="34" charset="-122"/>
                <a:cs typeface="Consolas" pitchFamily="34" charset="-120"/>
              </a:rPr>
              <a:t># Step 1: tidy column names, drop empty columns</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df.columns = (df.columns.str.strip()</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              .str.lower().str.replace(" ", "_"))</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df = df.dropna(axis=1, how="all")</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15803D"/>
                </a:solidFill>
                <a:latin typeface="Consolas" pitchFamily="34" charset="0"/>
                <a:ea typeface="Consolas" pitchFamily="34" charset="-122"/>
                <a:cs typeface="Consolas" pitchFamily="34" charset="-120"/>
              </a:rPr>
              <a:t># Step 2: remove duplicate rows and duplicate videos</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df = df.drop_duplicates().drop_duplicates(subset="video_id")</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15803D"/>
                </a:solidFill>
                <a:latin typeface="Consolas" pitchFamily="34" charset="0"/>
                <a:ea typeface="Consolas" pitchFamily="34" charset="-122"/>
                <a:cs typeface="Consolas" pitchFamily="34" charset="-120"/>
              </a:rPr>
              <a:t># Step 3: make numbers numeric, dates real dates</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for c in NUM_COLS:</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    df[c] = pd.to_numeric(df[c], errors="coerce")</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    df.loc[df[c] &lt; 0, c] = np.nan</a:t>
            </a:r>
            <a:r>
              <a:rPr lang="en-US" sz="1200" dirty="0">
                <a:solidFill>
                  <a:srgbClr val="15803D"/>
                </a:solidFill>
                <a:latin typeface="Consolas" pitchFamily="34" charset="0"/>
                <a:ea typeface="Consolas" pitchFamily="34" charset="-122"/>
                <a:cs typeface="Consolas" pitchFamily="34" charset="-120"/>
              </a:rPr>
              <a:t>   # negative = invalid</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for c in DATE_COLS:</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    df[c] = pd.to_datetime(df[c], errors="coerce")</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15803D"/>
                </a:solidFill>
                <a:latin typeface="Consolas" pitchFamily="34" charset="0"/>
                <a:ea typeface="Consolas" pitchFamily="34" charset="-122"/>
                <a:cs typeface="Consolas" pitchFamily="34" charset="-120"/>
              </a:rPr>
              <a:t># Step 4: fill missing numbers with the median</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for c in NUM_COLS:</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    df[c] = df[c].fillna(df[c].median())</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15803D"/>
                </a:solidFill>
                <a:latin typeface="Consolas" pitchFamily="34" charset="0"/>
                <a:ea typeface="Consolas" pitchFamily="34" charset="-122"/>
                <a:cs typeface="Consolas" pitchFamily="34" charset="-120"/>
              </a:rPr>
              <a:t># Step 5: drop rows with no date or zero views</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df = df.dropna(subset=DATE_COLS)</a:t>
            </a:r>
            <a:endParaRPr lang="en-US" sz="1200" dirty="0"/>
          </a:p>
          <a:p>
            <a:pPr marL="0" indent="0">
              <a:buNone/>
            </a:pPr>
            <a:r>
              <a:rPr lang="en-US" sz="1200" dirty="0">
                <a:solidFill>
                  <a:srgbClr val="1F2937"/>
                </a:solidFill>
                <a:latin typeface="Consolas" pitchFamily="34" charset="0"/>
                <a:ea typeface="Consolas" pitchFamily="34" charset="-122"/>
                <a:cs typeface="Consolas" pitchFamily="34" charset="-120"/>
              </a:rPr>
              <a:t>df = df[df["views"] &gt; 0]</a:t>
            </a:r>
            <a:endParaRPr lang="en-US" sz="1200" dirty="0"/>
          </a:p>
        </p:txBody>
      </p:sp>
      <p:sp>
        <p:nvSpPr>
          <p:cNvPr id="9" name="Text 6"/>
          <p:cNvSpPr txBox="1"/>
          <p:nvPr/>
        </p:nvSpPr>
        <p:spPr>
          <a:xfrm>
            <a:off x="731520" y="6217920"/>
            <a:ext cx="6766560" cy="274320"/>
          </a:xfrm>
          <a:prstGeom prst="rect">
            <a:avLst/>
          </a:prstGeom>
          <a:noFill/>
          <a:ln/>
        </p:spPr>
        <p:txBody>
          <a:bodyPr wrap="square" lIns="0" tIns="0" rIns="0" bIns="0" rtlCol="0" anchor="ctr"/>
          <a:lstStyle/>
          <a:p>
            <a:pPr marL="0" indent="0">
              <a:buNone/>
            </a:pPr>
            <a:endParaRPr lang="en-US" sz="1100" dirty="0"/>
          </a:p>
        </p:txBody>
      </p:sp>
      <p:pic>
        <p:nvPicPr>
          <p:cNvPr id="10" name="Image 1" descr="VS Code: clean_data.py (Steps 4 and 5) and the cleaning log in the terminal"/>
          <p:cNvPicPr>
            <a:picLocks noChangeAspect="1"/>
          </p:cNvPicPr>
          <p:nvPr/>
        </p:nvPicPr>
        <p:blipFill>
          <a:blip r:embed="rId4"/>
          <a:stretch>
            <a:fillRect/>
          </a:stretch>
        </p:blipFill>
        <p:spPr>
          <a:xfrm>
            <a:off x="7772400" y="2048691"/>
            <a:ext cx="3749040" cy="3202751"/>
          </a:xfrm>
          <a:prstGeom prst="rect">
            <a:avLst/>
          </a:prstGeom>
        </p:spPr>
      </p:pic>
      <p:sp>
        <p:nvSpPr>
          <p:cNvPr id="11" name="Shape 7"/>
          <p:cNvSpPr/>
          <p:nvPr/>
        </p:nvSpPr>
        <p:spPr>
          <a:xfrm>
            <a:off x="7772400" y="2048691"/>
            <a:ext cx="3749040" cy="3202751"/>
          </a:xfrm>
          <a:prstGeom prst="rect">
            <a:avLst/>
          </a:prstGeom>
          <a:ln w="12700">
            <a:solidFill>
              <a:srgbClr val="1B5E83"/>
            </a:solidFill>
            <a:prstDash val="solid"/>
          </a:ln>
        </p:spPr>
      </p:sp>
      <p:sp>
        <p:nvSpPr>
          <p:cNvPr id="12" name="Shape 8"/>
          <p:cNvSpPr/>
          <p:nvPr/>
        </p:nvSpPr>
        <p:spPr>
          <a:xfrm>
            <a:off x="10149840" y="1801803"/>
            <a:ext cx="1280160" cy="201168"/>
          </a:xfrm>
          <a:prstGeom prst="roundRect">
            <a:avLst>
              <a:gd name="adj" fmla="val 22727"/>
            </a:avLst>
          </a:prstGeom>
          <a:solidFill>
            <a:srgbClr val="E8742C"/>
          </a:solidFill>
          <a:ln w="12700">
            <a:solidFill>
              <a:srgbClr val="E8742C"/>
            </a:solidFill>
            <a:prstDash val="solid"/>
          </a:ln>
        </p:spPr>
      </p:sp>
      <p:sp>
        <p:nvSpPr>
          <p:cNvPr id="13" name="Text 9"/>
          <p:cNvSpPr txBox="1"/>
          <p:nvPr/>
        </p:nvSpPr>
        <p:spPr>
          <a:xfrm>
            <a:off x="10149840" y="1801803"/>
            <a:ext cx="12801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SAMPLE OUTPUT</a:t>
            </a:r>
            <a:endParaRPr lang="en-US" sz="900" dirty="0"/>
          </a:p>
        </p:txBody>
      </p:sp>
      <p:sp>
        <p:nvSpPr>
          <p:cNvPr id="14" name="Text 10"/>
          <p:cNvSpPr txBox="1"/>
          <p:nvPr/>
        </p:nvSpPr>
        <p:spPr>
          <a:xfrm>
            <a:off x="7772400" y="5349240"/>
            <a:ext cx="3749040" cy="1005840"/>
          </a:xfrm>
          <a:prstGeom prst="rect">
            <a:avLst/>
          </a:prstGeom>
          <a:noFill/>
          <a:ln/>
        </p:spPr>
        <p:txBody>
          <a:bodyPr wrap="square" lIns="0" tIns="0" rIns="0" bIns="0" rtlCol="0" anchor="t"/>
          <a:lstStyle/>
          <a:p>
            <a:pPr marL="0" indent="0">
              <a:buNone/>
            </a:pPr>
            <a:r>
              <a:rPr lang="en-US" sz="1500" b="1" dirty="0">
                <a:solidFill>
                  <a:srgbClr val="E8742C"/>
                </a:solidFill>
                <a:latin typeface="Calibri" pitchFamily="34" charset="0"/>
                <a:ea typeface="Calibri" pitchFamily="34" charset="-122"/>
                <a:cs typeface="Calibri" pitchFamily="34" charset="-120"/>
              </a:rPr>
              <a:t>Result: </a:t>
            </a:r>
            <a:r>
              <a:rPr lang="en-US" sz="1500" dirty="0">
                <a:solidFill>
                  <a:srgbClr val="1F2937"/>
                </a:solidFill>
                <a:latin typeface="Calibri" pitchFamily="34" charset="0"/>
                <a:ea typeface="Calibri" pitchFamily="34" charset="-122"/>
                <a:cs typeface="Calibri" pitchFamily="34" charset="-120"/>
              </a:rPr>
              <a:t>duplicates and invalid rows are removed, and 0 missing values remain.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Module 3: Validation, New Columns and Saving</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731520" y="1783080"/>
            <a:ext cx="6766560" cy="4389120"/>
          </a:xfrm>
          <a:prstGeom prst="rect">
            <a:avLst/>
          </a:prstGeom>
          <a:solidFill>
            <a:srgbClr val="F1F5F9"/>
          </a:solidFill>
          <a:ln w="9525">
            <a:solidFill>
              <a:srgbClr val="1B5E83"/>
            </a:solidFill>
            <a:prstDash val="solid"/>
          </a:ln>
        </p:spPr>
      </p:sp>
      <p:sp>
        <p:nvSpPr>
          <p:cNvPr id="8" name="Text 5"/>
          <p:cNvSpPr txBox="1"/>
          <p:nvPr/>
        </p:nvSpPr>
        <p:spPr>
          <a:xfrm>
            <a:off x="822960" y="1856232"/>
            <a:ext cx="6583680" cy="4242816"/>
          </a:xfrm>
          <a:prstGeom prst="rect">
            <a:avLst/>
          </a:prstGeom>
          <a:noFill/>
          <a:ln/>
        </p:spPr>
        <p:txBody>
          <a:bodyPr wrap="square" lIns="1016" tIns="1016" rIns="1016" bIns="1016" rtlCol="0" anchor="t"/>
          <a:lstStyle/>
          <a:p>
            <a:pPr marL="0" indent="0">
              <a:buNone/>
            </a:pPr>
            <a:r>
              <a:rPr lang="en-US" sz="1250" dirty="0">
                <a:solidFill>
                  <a:srgbClr val="15803D"/>
                </a:solidFill>
                <a:latin typeface="Consolas" pitchFamily="34" charset="0"/>
                <a:ea typeface="Consolas" pitchFamily="34" charset="-122"/>
                <a:cs typeface="Consolas" pitchFamily="34" charset="-120"/>
              </a:rPr>
              <a:t># Step 6: logical fixes</a:t>
            </a:r>
            <a:endParaRPr lang="en-US" sz="1250" dirty="0"/>
          </a:p>
          <a:p>
            <a:pPr marL="0" indent="0">
              <a:buNone/>
            </a:pPr>
            <a:r>
              <a:rPr lang="en-US" sz="1250" dirty="0">
                <a:solidFill>
                  <a:srgbClr val="15803D"/>
                </a:solidFill>
                <a:latin typeface="Consolas" pitchFamily="34" charset="0"/>
                <a:ea typeface="Consolas" pitchFamily="34" charset="-122"/>
                <a:cs typeface="Consolas" pitchFamily="34" charset="-120"/>
              </a:rPr>
              <a:t># likes, dislikes, comments can never be more than views</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for c in ["likes", "dislikes", "comment_count"]:</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df[c] = df[c].clip(upper=df["views"])</a:t>
            </a:r>
            <a:endParaRPr lang="en-US" sz="1250" dirty="0"/>
          </a:p>
          <a:p>
            <a:pPr marL="0" indent="0">
              <a:buNone/>
            </a:pPr>
            <a:r>
              <a:rPr lang="en-US" sz="1250" dirty="0">
                <a:solidFill>
                  <a:srgbClr val="15803D"/>
                </a:solidFill>
                <a:latin typeface="Consolas" pitchFamily="34" charset="0"/>
                <a:ea typeface="Consolas" pitchFamily="34" charset="-122"/>
                <a:cs typeface="Consolas" pitchFamily="34" charset="-120"/>
              </a:rPr>
              <a:t># a video cannot trend before it was published</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df = df[df["trending_date"] &gt;= df["publish_date"]]</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a:t>
            </a:r>
            <a:endParaRPr lang="en-US" sz="1250" dirty="0"/>
          </a:p>
          <a:p>
            <a:pPr marL="0" indent="0">
              <a:buNone/>
            </a:pPr>
            <a:r>
              <a:rPr lang="en-US" sz="1250" dirty="0">
                <a:solidFill>
                  <a:srgbClr val="15803D"/>
                </a:solidFill>
                <a:latin typeface="Consolas" pitchFamily="34" charset="0"/>
                <a:ea typeface="Consolas" pitchFamily="34" charset="-122"/>
                <a:cs typeface="Consolas" pitchFamily="34" charset="-120"/>
              </a:rPr>
              <a:t># Step 7: new columns used by the dashboard</a:t>
            </a:r>
            <a:endParaRPr lang="en-US" sz="1250" dirty="0"/>
          </a:p>
          <a:p>
            <a:pPr marL="0" indent="0">
              <a:buNone/>
            </a:pPr>
            <a:r>
              <a:rPr lang="en-US" sz="1250" dirty="0">
                <a:solidFill>
                  <a:srgbClr val="15803D"/>
                </a:solidFill>
                <a:latin typeface="Consolas" pitchFamily="34" charset="0"/>
                <a:ea typeface="Consolas" pitchFamily="34" charset="-122"/>
                <a:cs typeface="Consolas" pitchFamily="34" charset="-120"/>
              </a:rPr>
              <a:t># engagement % = (likes + comments) / views</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df["engagement_rate"] = ((df["likes"] + df["comment_count"])</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 df["views"] * 100).round(2)</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df["like_rate"] = (df["likes"] / df["views"] * 100).round(2)</a:t>
            </a:r>
            <a:endParaRPr lang="en-US" sz="1250" dirty="0"/>
          </a:p>
          <a:p>
            <a:pPr marL="0" indent="0">
              <a:buNone/>
            </a:pPr>
            <a:r>
              <a:rPr lang="en-US" sz="1250" dirty="0">
                <a:solidFill>
                  <a:srgbClr val="15803D"/>
                </a:solidFill>
                <a:latin typeface="Consolas" pitchFamily="34" charset="0"/>
                <a:ea typeface="Consolas" pitchFamily="34" charset="-122"/>
                <a:cs typeface="Consolas" pitchFamily="34" charset="-120"/>
              </a:rPr>
              <a:t># log scale so viral videos do not hide small ones</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df["log10_views"] = np.log10(df["views"]).round(3)</a:t>
            </a:r>
            <a:endParaRPr lang="en-US" sz="1250" dirty="0"/>
          </a:p>
          <a:p>
            <a:pPr marL="0" indent="0">
              <a:buNone/>
            </a:pPr>
            <a:r>
              <a:rPr lang="en-US" sz="1250" dirty="0">
                <a:solidFill>
                  <a:srgbClr val="15803D"/>
                </a:solidFill>
                <a:latin typeface="Consolas" pitchFamily="34" charset="0"/>
                <a:ea typeface="Consolas" pitchFamily="34" charset="-122"/>
                <a:cs typeface="Consolas" pitchFamily="34" charset="-120"/>
              </a:rPr>
              <a:t># month of trending, used by the line chart</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df["trend_month"] = (df["trending_date"].dt.to_period("M")</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.dt.to_timestamp())</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a:t>
            </a:r>
            <a:endParaRPr lang="en-US" sz="1250" dirty="0"/>
          </a:p>
          <a:p>
            <a:pPr marL="0" indent="0">
              <a:buNone/>
            </a:pPr>
            <a:r>
              <a:rPr lang="en-US" sz="1250" dirty="0">
                <a:solidFill>
                  <a:srgbClr val="15803D"/>
                </a:solidFill>
                <a:latin typeface="Consolas" pitchFamily="34" charset="0"/>
                <a:ea typeface="Consolas" pitchFamily="34" charset="-122"/>
                <a:cs typeface="Consolas" pitchFamily="34" charset="-120"/>
              </a:rPr>
              <a:t># Step 8: save the cleaned data in the project folder</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df.to_csv(FOLDER / "cleaned_youtube_data.csv", index=False)</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df.to_excel(FOLDER / "cleaned_youtube_data.xlsx", index=False)</a:t>
            </a:r>
            <a:endParaRPr lang="en-US" sz="1250" dirty="0"/>
          </a:p>
        </p:txBody>
      </p:sp>
      <p:sp>
        <p:nvSpPr>
          <p:cNvPr id="9" name="Text 6"/>
          <p:cNvSpPr txBox="1"/>
          <p:nvPr/>
        </p:nvSpPr>
        <p:spPr>
          <a:xfrm>
            <a:off x="731520" y="6217920"/>
            <a:ext cx="6766560" cy="274320"/>
          </a:xfrm>
          <a:prstGeom prst="rect">
            <a:avLst/>
          </a:prstGeom>
          <a:noFill/>
          <a:ln/>
        </p:spPr>
        <p:txBody>
          <a:bodyPr wrap="square" lIns="0" tIns="0" rIns="0" bIns="0" rtlCol="0" anchor="ctr"/>
          <a:lstStyle/>
          <a:p>
            <a:pPr marL="0" indent="0">
              <a:buNone/>
            </a:pPr>
            <a:endParaRPr lang="en-US" sz="1100" dirty="0"/>
          </a:p>
        </p:txBody>
      </p:sp>
      <p:pic>
        <p:nvPicPr>
          <p:cNvPr id="10" name="Image 1" descr="VS Code: Step 7 and 8 code, saved files and the new columns in the terminal"/>
          <p:cNvPicPr>
            <a:picLocks noChangeAspect="1"/>
          </p:cNvPicPr>
          <p:nvPr/>
        </p:nvPicPr>
        <p:blipFill>
          <a:blip r:embed="rId4"/>
          <a:stretch>
            <a:fillRect/>
          </a:stretch>
        </p:blipFill>
        <p:spPr>
          <a:xfrm>
            <a:off x="7772400" y="2048691"/>
            <a:ext cx="3749040" cy="3252179"/>
          </a:xfrm>
          <a:prstGeom prst="rect">
            <a:avLst/>
          </a:prstGeom>
        </p:spPr>
      </p:pic>
      <p:sp>
        <p:nvSpPr>
          <p:cNvPr id="11" name="Shape 7"/>
          <p:cNvSpPr/>
          <p:nvPr/>
        </p:nvSpPr>
        <p:spPr>
          <a:xfrm>
            <a:off x="7772400" y="2048691"/>
            <a:ext cx="3749040" cy="3252179"/>
          </a:xfrm>
          <a:prstGeom prst="rect">
            <a:avLst/>
          </a:prstGeom>
          <a:ln w="12700">
            <a:solidFill>
              <a:srgbClr val="1B5E83"/>
            </a:solidFill>
            <a:prstDash val="solid"/>
          </a:ln>
        </p:spPr>
      </p:sp>
      <p:sp>
        <p:nvSpPr>
          <p:cNvPr id="12" name="Shape 8"/>
          <p:cNvSpPr/>
          <p:nvPr/>
        </p:nvSpPr>
        <p:spPr>
          <a:xfrm>
            <a:off x="10149840" y="1801803"/>
            <a:ext cx="1280160" cy="201168"/>
          </a:xfrm>
          <a:prstGeom prst="roundRect">
            <a:avLst>
              <a:gd name="adj" fmla="val 22727"/>
            </a:avLst>
          </a:prstGeom>
          <a:solidFill>
            <a:srgbClr val="E8742C"/>
          </a:solidFill>
          <a:ln w="12700">
            <a:solidFill>
              <a:srgbClr val="E8742C"/>
            </a:solidFill>
            <a:prstDash val="solid"/>
          </a:ln>
        </p:spPr>
      </p:sp>
      <p:sp>
        <p:nvSpPr>
          <p:cNvPr id="13" name="Text 9"/>
          <p:cNvSpPr txBox="1"/>
          <p:nvPr/>
        </p:nvSpPr>
        <p:spPr>
          <a:xfrm>
            <a:off x="10149840" y="1801803"/>
            <a:ext cx="12801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SAMPLE OUTPUT</a:t>
            </a:r>
            <a:endParaRPr lang="en-US" sz="900" dirty="0"/>
          </a:p>
        </p:txBody>
      </p:sp>
      <p:sp>
        <p:nvSpPr>
          <p:cNvPr id="14" name="Text 10"/>
          <p:cNvSpPr txBox="1"/>
          <p:nvPr/>
        </p:nvSpPr>
        <p:spPr>
          <a:xfrm>
            <a:off x="7772400" y="5349240"/>
            <a:ext cx="3749040" cy="1005840"/>
          </a:xfrm>
          <a:prstGeom prst="rect">
            <a:avLst/>
          </a:prstGeom>
          <a:noFill/>
          <a:ln/>
        </p:spPr>
        <p:txBody>
          <a:bodyPr wrap="square" lIns="0" tIns="0" rIns="0" bIns="0" rtlCol="0" anchor="t"/>
          <a:lstStyle/>
          <a:p>
            <a:pPr marL="0" indent="0">
              <a:buNone/>
            </a:pPr>
            <a:r>
              <a:rPr lang="en-US" sz="1500" b="1" dirty="0">
                <a:solidFill>
                  <a:srgbClr val="E8742C"/>
                </a:solidFill>
                <a:latin typeface="Calibri" pitchFamily="34" charset="0"/>
                <a:ea typeface="Calibri" pitchFamily="34" charset="-122"/>
                <a:cs typeface="Calibri" pitchFamily="34" charset="-120"/>
              </a:rPr>
              <a:t>Result: </a:t>
            </a:r>
            <a:r>
              <a:rPr lang="en-US" sz="1500" dirty="0">
                <a:solidFill>
                  <a:srgbClr val="1F2937"/>
                </a:solidFill>
                <a:latin typeface="Calibri" pitchFamily="34" charset="0"/>
                <a:ea typeface="Calibri" pitchFamily="34" charset="-122"/>
                <a:cs typeface="Calibri" pitchFamily="34" charset="-120"/>
              </a:rPr>
              <a:t>4 new columns are added and both cleaned files are saved.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Module 4: Dashboard Filters and Sorting</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731520" y="1783080"/>
            <a:ext cx="6766560" cy="3611880"/>
          </a:xfrm>
          <a:prstGeom prst="rect">
            <a:avLst/>
          </a:prstGeom>
          <a:solidFill>
            <a:srgbClr val="F1F5F9"/>
          </a:solidFill>
          <a:ln w="9525">
            <a:solidFill>
              <a:srgbClr val="1B5E83"/>
            </a:solidFill>
            <a:prstDash val="solid"/>
          </a:ln>
        </p:spPr>
      </p:sp>
      <p:sp>
        <p:nvSpPr>
          <p:cNvPr id="8" name="Text 5"/>
          <p:cNvSpPr txBox="1"/>
          <p:nvPr/>
        </p:nvSpPr>
        <p:spPr>
          <a:xfrm>
            <a:off x="822960" y="1856232"/>
            <a:ext cx="6583680" cy="3465576"/>
          </a:xfrm>
          <a:prstGeom prst="rect">
            <a:avLst/>
          </a:prstGeom>
          <a:noFill/>
          <a:ln/>
        </p:spPr>
        <p:txBody>
          <a:bodyPr wrap="square" lIns="1016" tIns="1016" rIns="1016" bIns="1016" rtlCol="0" anchor="t"/>
          <a:lstStyle/>
          <a:p>
            <a:pPr marL="0" indent="0">
              <a:buNone/>
            </a:pPr>
            <a:r>
              <a:rPr lang="en-US" sz="1300" dirty="0">
                <a:solidFill>
                  <a:srgbClr val="15803D"/>
                </a:solidFill>
                <a:latin typeface="Consolas" pitchFamily="34" charset="0"/>
                <a:ea typeface="Consolas" pitchFamily="34" charset="-122"/>
                <a:cs typeface="Consolas" pitchFamily="34" charset="-120"/>
              </a:rPr>
              <a:t># Sidebar widgets: the user's choices</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tiers = st.sidebar.multiselect(</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"Channel type (tier)", TIERS, default=TIERS)</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cats = st.sidebar.multiselect(</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"Category", sorted(df.category.unique()))</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min_views = st.sidebar.number_input(</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"Min views (reach)", 0, int(df.views.max()), 0)</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a:t>
            </a:r>
            <a:endParaRPr lang="en-US" sz="1300" dirty="0"/>
          </a:p>
          <a:p>
            <a:pPr marL="0" indent="0">
              <a:buNone/>
            </a:pPr>
            <a:r>
              <a:rPr lang="en-US" sz="1300" dirty="0">
                <a:solidFill>
                  <a:srgbClr val="15803D"/>
                </a:solidFill>
                <a:latin typeface="Consolas" pitchFamily="34" charset="0"/>
                <a:ea typeface="Consolas" pitchFamily="34" charset="-122"/>
                <a:cs typeface="Consolas" pitchFamily="34" charset="-120"/>
              </a:rPr>
              <a:t># Keep only the rows that match the choices</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f = df[df.channel_tier.isin(tiers)</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&amp; df.views.between(min_views, max_views)]</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if cats:</a:t>
            </a:r>
            <a:r>
              <a:rPr lang="en-US" sz="1300" dirty="0">
                <a:solidFill>
                  <a:srgbClr val="15803D"/>
                </a:solidFill>
                <a:latin typeface="Consolas" pitchFamily="34" charset="0"/>
                <a:ea typeface="Consolas" pitchFamily="34" charset="-122"/>
                <a:cs typeface="Consolas" pitchFamily="34" charset="-120"/>
              </a:rPr>
              <a:t>      # category filter (only if chosen)</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f = f[f.category.isin(cats)]</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if search:</a:t>
            </a:r>
            <a:r>
              <a:rPr lang="en-US" sz="1300" dirty="0">
                <a:solidFill>
                  <a:srgbClr val="15803D"/>
                </a:solidFill>
                <a:latin typeface="Consolas" pitchFamily="34" charset="0"/>
                <a:ea typeface="Consolas" pitchFamily="34" charset="-122"/>
                <a:cs typeface="Consolas" pitchFamily="34" charset="-120"/>
              </a:rPr>
              <a:t>    # search in title or channel name</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f = f[f.title.str.contains(search, case=False)</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 f.channel_title.str.contains(search, case=False)]</a:t>
            </a:r>
            <a:endParaRPr lang="en-US" sz="1300" dirty="0"/>
          </a:p>
        </p:txBody>
      </p:sp>
      <p:sp>
        <p:nvSpPr>
          <p:cNvPr id="9" name="Text 6"/>
          <p:cNvSpPr txBox="1"/>
          <p:nvPr/>
        </p:nvSpPr>
        <p:spPr>
          <a:xfrm>
            <a:off x="731520" y="5440680"/>
            <a:ext cx="6766560" cy="274320"/>
          </a:xfrm>
          <a:prstGeom prst="rect">
            <a:avLst/>
          </a:prstGeom>
          <a:noFill/>
          <a:ln/>
        </p:spPr>
        <p:txBody>
          <a:bodyPr wrap="square" lIns="0" tIns="0" rIns="0" bIns="0" rtlCol="0" anchor="ctr"/>
          <a:lstStyle/>
          <a:p>
            <a:pPr marL="0" indent="0">
              <a:buNone/>
            </a:pPr>
            <a:endParaRPr lang="en-US" sz="1100" dirty="0"/>
          </a:p>
        </p:txBody>
      </p:sp>
      <p:sp>
        <p:nvSpPr>
          <p:cNvPr id="10" name="Shape 7"/>
          <p:cNvSpPr/>
          <p:nvPr/>
        </p:nvSpPr>
        <p:spPr>
          <a:xfrm>
            <a:off x="731520" y="5760720"/>
            <a:ext cx="6766560" cy="566928"/>
          </a:xfrm>
          <a:prstGeom prst="rect">
            <a:avLst/>
          </a:prstGeom>
          <a:solidFill>
            <a:srgbClr val="F1F5F9"/>
          </a:solidFill>
          <a:ln w="9525">
            <a:solidFill>
              <a:srgbClr val="1B5E83"/>
            </a:solidFill>
            <a:prstDash val="solid"/>
          </a:ln>
        </p:spPr>
      </p:sp>
      <p:sp>
        <p:nvSpPr>
          <p:cNvPr id="11" name="Text 8"/>
          <p:cNvSpPr txBox="1"/>
          <p:nvPr/>
        </p:nvSpPr>
        <p:spPr>
          <a:xfrm>
            <a:off x="822960" y="5833872"/>
            <a:ext cx="6583680" cy="420624"/>
          </a:xfrm>
          <a:prstGeom prst="rect">
            <a:avLst/>
          </a:prstGeom>
          <a:noFill/>
          <a:ln/>
        </p:spPr>
        <p:txBody>
          <a:bodyPr wrap="square" lIns="1016" tIns="1016" rIns="1016" bIns="1016" rtlCol="0" anchor="t"/>
          <a:lstStyle/>
          <a:p>
            <a:pPr marL="0" indent="0">
              <a:spcAft>
                <a:spcPts val="600"/>
              </a:spcAft>
              <a:buNone/>
            </a:pPr>
            <a:endParaRPr lang="en-US" sz="1600" dirty="0"/>
          </a:p>
          <a:p>
            <a:pPr marL="0" indent="0">
              <a:buNone/>
            </a:pPr>
            <a:endParaRPr lang="en-US" sz="1600" dirty="0"/>
          </a:p>
        </p:txBody>
      </p:sp>
      <p:sp>
        <p:nvSpPr>
          <p:cNvPr id="12" name="Text 9"/>
          <p:cNvSpPr txBox="1"/>
          <p:nvPr/>
        </p:nvSpPr>
        <p:spPr>
          <a:xfrm>
            <a:off x="822960" y="5760720"/>
            <a:ext cx="6583680" cy="566928"/>
          </a:xfrm>
          <a:prstGeom prst="rect">
            <a:avLst/>
          </a:prstGeom>
          <a:noFill/>
          <a:ln/>
        </p:spPr>
        <p:txBody>
          <a:bodyPr wrap="square" lIns="1016" tIns="1016" rIns="1016" bIns="1016" rtlCol="0" anchor="ctr"/>
          <a:lstStyle/>
          <a:p>
            <a:pPr marL="0" indent="0">
              <a:buNone/>
            </a:pPr>
            <a:r>
              <a:rPr lang="en-US" sz="1600" b="1" dirty="0">
                <a:solidFill>
                  <a:srgbClr val="E8742C"/>
                </a:solidFill>
                <a:latin typeface="Calibri" pitchFamily="34" charset="0"/>
                <a:ea typeface="Calibri" pitchFamily="34" charset="-122"/>
                <a:cs typeface="Calibri" pitchFamily="34" charset="-120"/>
              </a:rPr>
              <a:t>Result: </a:t>
            </a:r>
            <a:r>
              <a:rPr lang="en-US" sz="1600" dirty="0">
                <a:solidFill>
                  <a:srgbClr val="1F2937"/>
                </a:solidFill>
                <a:latin typeface="Calibri" pitchFamily="34" charset="0"/>
                <a:ea typeface="Calibri" pitchFamily="34" charset="-122"/>
                <a:cs typeface="Calibri" pitchFamily="34" charset="-120"/>
              </a:rPr>
              <a:t>every KPI and chart updates as soon as a filter changes.</a:t>
            </a:r>
            <a:endParaRPr lang="en-US" sz="1600" dirty="0"/>
          </a:p>
        </p:txBody>
      </p:sp>
      <p:pic>
        <p:nvPicPr>
          <p:cNvPr id="13" name="Image 1" descr="Dashboard sidebar"/>
          <p:cNvPicPr>
            <a:picLocks noChangeAspect="1"/>
          </p:cNvPicPr>
          <p:nvPr/>
        </p:nvPicPr>
        <p:blipFill>
          <a:blip r:embed="rId4"/>
          <a:stretch>
            <a:fillRect/>
          </a:stretch>
        </p:blipFill>
        <p:spPr>
          <a:xfrm>
            <a:off x="7844246" y="2011680"/>
            <a:ext cx="3605349" cy="4206240"/>
          </a:xfrm>
          <a:prstGeom prst="rect">
            <a:avLst/>
          </a:prstGeom>
        </p:spPr>
      </p:pic>
      <p:sp>
        <p:nvSpPr>
          <p:cNvPr id="14" name="Shape 10"/>
          <p:cNvSpPr/>
          <p:nvPr/>
        </p:nvSpPr>
        <p:spPr>
          <a:xfrm>
            <a:off x="7844246" y="2011680"/>
            <a:ext cx="3605349" cy="4206240"/>
          </a:xfrm>
          <a:prstGeom prst="rect">
            <a:avLst/>
          </a:prstGeom>
          <a:ln w="12700">
            <a:solidFill>
              <a:srgbClr val="1B5E83"/>
            </a:solidFill>
            <a:prstDash val="solid"/>
          </a:ln>
        </p:spPr>
      </p:sp>
      <p:sp>
        <p:nvSpPr>
          <p:cNvPr id="15" name="Shape 11"/>
          <p:cNvSpPr/>
          <p:nvPr/>
        </p:nvSpPr>
        <p:spPr>
          <a:xfrm>
            <a:off x="10077994" y="1764792"/>
            <a:ext cx="1280160" cy="201168"/>
          </a:xfrm>
          <a:prstGeom prst="roundRect">
            <a:avLst>
              <a:gd name="adj" fmla="val 22727"/>
            </a:avLst>
          </a:prstGeom>
          <a:solidFill>
            <a:srgbClr val="E8742C"/>
          </a:solidFill>
          <a:ln w="12700">
            <a:solidFill>
              <a:srgbClr val="E8742C"/>
            </a:solidFill>
            <a:prstDash val="solid"/>
          </a:ln>
        </p:spPr>
      </p:sp>
      <p:sp>
        <p:nvSpPr>
          <p:cNvPr id="16" name="Text 12"/>
          <p:cNvSpPr txBox="1"/>
          <p:nvPr/>
        </p:nvSpPr>
        <p:spPr>
          <a:xfrm>
            <a:off x="10077994" y="1764792"/>
            <a:ext cx="12801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SAMPLE OUTPUT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Dashboard Overview and KPI Cards</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pic>
        <p:nvPicPr>
          <p:cNvPr id="7" name="Image 1" descr="Full dashboard"/>
          <p:cNvPicPr>
            <a:picLocks noChangeAspect="1"/>
          </p:cNvPicPr>
          <p:nvPr/>
        </p:nvPicPr>
        <p:blipFill>
          <a:blip r:embed="rId4"/>
          <a:stretch>
            <a:fillRect/>
          </a:stretch>
        </p:blipFill>
        <p:spPr>
          <a:xfrm>
            <a:off x="731520" y="2013846"/>
            <a:ext cx="6035040" cy="3891013"/>
          </a:xfrm>
          <a:prstGeom prst="rect">
            <a:avLst/>
          </a:prstGeom>
        </p:spPr>
      </p:pic>
      <p:sp>
        <p:nvSpPr>
          <p:cNvPr id="8" name="Shape 4"/>
          <p:cNvSpPr/>
          <p:nvPr/>
        </p:nvSpPr>
        <p:spPr>
          <a:xfrm>
            <a:off x="731520" y="2013846"/>
            <a:ext cx="6035040" cy="3891013"/>
          </a:xfrm>
          <a:prstGeom prst="rect">
            <a:avLst/>
          </a:prstGeom>
          <a:ln w="12700">
            <a:solidFill>
              <a:srgbClr val="1B5E83"/>
            </a:solidFill>
            <a:prstDash val="solid"/>
          </a:ln>
        </p:spPr>
      </p:sp>
      <p:sp>
        <p:nvSpPr>
          <p:cNvPr id="9" name="Shape 5"/>
          <p:cNvSpPr/>
          <p:nvPr/>
        </p:nvSpPr>
        <p:spPr>
          <a:xfrm>
            <a:off x="5394960" y="1766958"/>
            <a:ext cx="1280160" cy="201168"/>
          </a:xfrm>
          <a:prstGeom prst="roundRect">
            <a:avLst>
              <a:gd name="adj" fmla="val 22727"/>
            </a:avLst>
          </a:prstGeom>
          <a:solidFill>
            <a:srgbClr val="E8742C"/>
          </a:solidFill>
          <a:ln w="12700">
            <a:solidFill>
              <a:srgbClr val="E8742C"/>
            </a:solidFill>
            <a:prstDash val="solid"/>
          </a:ln>
        </p:spPr>
      </p:sp>
      <p:sp>
        <p:nvSpPr>
          <p:cNvPr id="10" name="Text 6"/>
          <p:cNvSpPr txBox="1"/>
          <p:nvPr/>
        </p:nvSpPr>
        <p:spPr>
          <a:xfrm>
            <a:off x="5394960" y="1766958"/>
            <a:ext cx="12801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SAMPLE OUTPUT</a:t>
            </a:r>
            <a:endParaRPr lang="en-US" sz="900" dirty="0"/>
          </a:p>
        </p:txBody>
      </p:sp>
      <p:sp>
        <p:nvSpPr>
          <p:cNvPr id="11" name="Shape 7"/>
          <p:cNvSpPr/>
          <p:nvPr/>
        </p:nvSpPr>
        <p:spPr>
          <a:xfrm>
            <a:off x="7040880" y="2011680"/>
            <a:ext cx="4480560" cy="3931920"/>
          </a:xfrm>
          <a:prstGeom prst="rect">
            <a:avLst/>
          </a:prstGeom>
          <a:solidFill>
            <a:srgbClr val="F1F5F9"/>
          </a:solidFill>
          <a:ln w="9525">
            <a:solidFill>
              <a:srgbClr val="1B5E83"/>
            </a:solidFill>
            <a:prstDash val="solid"/>
          </a:ln>
        </p:spPr>
      </p:sp>
      <p:sp>
        <p:nvSpPr>
          <p:cNvPr id="12" name="Text 8"/>
          <p:cNvSpPr txBox="1"/>
          <p:nvPr/>
        </p:nvSpPr>
        <p:spPr>
          <a:xfrm>
            <a:off x="7132320" y="2084832"/>
            <a:ext cx="4297680" cy="3785616"/>
          </a:xfrm>
          <a:prstGeom prst="rect">
            <a:avLst/>
          </a:prstGeom>
          <a:noFill/>
          <a:ln/>
        </p:spPr>
        <p:txBody>
          <a:bodyPr wrap="square" lIns="1016" tIns="1016" rIns="1016" bIns="1016" rtlCol="0" anchor="t"/>
          <a:lstStyle/>
          <a:p>
            <a:pPr marL="0" indent="0">
              <a:buNone/>
            </a:pPr>
            <a:r>
              <a:rPr lang="en-US" sz="1250" dirty="0">
                <a:solidFill>
                  <a:srgbClr val="15803D"/>
                </a:solidFill>
                <a:latin typeface="Consolas" pitchFamily="34" charset="0"/>
                <a:ea typeface="Consolas" pitchFamily="34" charset="-122"/>
                <a:cs typeface="Consolas" pitchFamily="34" charset="-120"/>
              </a:rPr>
              <a:t># KPI cards: summary numbers</a:t>
            </a:r>
            <a:endParaRPr lang="en-US" sz="1250" dirty="0"/>
          </a:p>
          <a:p>
            <a:pPr marL="0" indent="0">
              <a:buNone/>
            </a:pPr>
            <a:r>
              <a:rPr lang="en-US" sz="1250" dirty="0">
                <a:solidFill>
                  <a:srgbClr val="15803D"/>
                </a:solidFill>
                <a:latin typeface="Consolas" pitchFamily="34" charset="0"/>
                <a:ea typeface="Consolas" pitchFamily="34" charset="-122"/>
                <a:cs typeface="Consolas" pitchFamily="34" charset="-120"/>
              </a:rPr>
              <a:t># that follow the filters (f)</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kpis = [</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("Videos", f"{len(f):,}"),</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("Total Views",</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f"{f.views.sum()/1e6:,.1f}M"),</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("Avg Views",</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f"{f.views.mean():,.0f}"),</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("Avg Likes",</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f"{f.likes.mean():,.0f}"),</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("Avg Engagement",</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f"{f.engagement_rate.mean():.2f}%"),</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a:t>
            </a:r>
            <a:endParaRPr lang="en-US" sz="1250" dirty="0"/>
          </a:p>
          <a:p>
            <a:pPr marL="0" indent="0">
              <a:buNone/>
            </a:pPr>
            <a:r>
              <a:rPr lang="en-US" sz="1250" dirty="0">
                <a:solidFill>
                  <a:srgbClr val="15803D"/>
                </a:solidFill>
                <a:latin typeface="Consolas" pitchFamily="34" charset="0"/>
                <a:ea typeface="Consolas" pitchFamily="34" charset="-122"/>
                <a:cs typeface="Consolas" pitchFamily="34" charset="-120"/>
              </a:rPr>
              <a:t># draw one card for each KPI</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for col, (name, val) in zip(</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st.columns(5), kpis):</a:t>
            </a:r>
            <a:endParaRPr lang="en-US" sz="1250" dirty="0"/>
          </a:p>
          <a:p>
            <a:pPr marL="0" indent="0">
              <a:buNone/>
            </a:pPr>
            <a:r>
              <a:rPr lang="en-US" sz="1250" dirty="0">
                <a:solidFill>
                  <a:srgbClr val="1F2937"/>
                </a:solidFill>
                <a:latin typeface="Consolas" pitchFamily="34" charset="0"/>
                <a:ea typeface="Consolas" pitchFamily="34" charset="-122"/>
                <a:cs typeface="Consolas" pitchFamily="34" charset="-120"/>
              </a:rPr>
              <a:t>    col.markdown(card_html)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Charts: Bar, Pie and Line</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10241280" y="457200"/>
            <a:ext cx="1280160" cy="201168"/>
          </a:xfrm>
          <a:prstGeom prst="roundRect">
            <a:avLst>
              <a:gd name="adj" fmla="val 22727"/>
            </a:avLst>
          </a:prstGeom>
          <a:solidFill>
            <a:srgbClr val="E8742C"/>
          </a:solidFill>
          <a:ln w="12700">
            <a:solidFill>
              <a:srgbClr val="E8742C"/>
            </a:solidFill>
            <a:prstDash val="solid"/>
          </a:ln>
        </p:spPr>
      </p:sp>
      <p:sp>
        <p:nvSpPr>
          <p:cNvPr id="8" name="Text 5"/>
          <p:cNvSpPr txBox="1"/>
          <p:nvPr/>
        </p:nvSpPr>
        <p:spPr>
          <a:xfrm>
            <a:off x="10241280" y="457200"/>
            <a:ext cx="12801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SAMPLE OUTPUT</a:t>
            </a:r>
            <a:endParaRPr lang="en-US" sz="900" dirty="0"/>
          </a:p>
        </p:txBody>
      </p:sp>
      <p:sp>
        <p:nvSpPr>
          <p:cNvPr id="9" name="Text 6"/>
          <p:cNvSpPr txBox="1"/>
          <p:nvPr/>
        </p:nvSpPr>
        <p:spPr>
          <a:xfrm>
            <a:off x="731520" y="1783080"/>
            <a:ext cx="3474720" cy="274320"/>
          </a:xfrm>
          <a:prstGeom prst="rect">
            <a:avLst/>
          </a:prstGeom>
          <a:noFill/>
          <a:ln/>
        </p:spPr>
        <p:txBody>
          <a:bodyPr wrap="square" lIns="0" tIns="0" rIns="0" bIns="0" rtlCol="0" anchor="ctr"/>
          <a:lstStyle/>
          <a:p>
            <a:pPr marL="0" indent="0">
              <a:buNone/>
            </a:pPr>
            <a:r>
              <a:rPr lang="en-US" sz="1500" b="1" dirty="0">
                <a:solidFill>
                  <a:srgbClr val="1B5E83"/>
                </a:solidFill>
                <a:latin typeface="Calibri" pitchFamily="34" charset="0"/>
                <a:ea typeface="Calibri" pitchFamily="34" charset="-122"/>
                <a:cs typeface="Calibri" pitchFamily="34" charset="-120"/>
              </a:rPr>
              <a:t>Bar: total views by category</a:t>
            </a:r>
            <a:endParaRPr lang="en-US" sz="1500" dirty="0"/>
          </a:p>
        </p:txBody>
      </p:sp>
      <p:pic>
        <p:nvPicPr>
          <p:cNvPr id="10" name="Image 1" descr="Bar: total views by category"/>
          <p:cNvPicPr>
            <a:picLocks noChangeAspect="1"/>
          </p:cNvPicPr>
          <p:nvPr/>
        </p:nvPicPr>
        <p:blipFill>
          <a:blip r:embed="rId4"/>
          <a:stretch>
            <a:fillRect/>
          </a:stretch>
        </p:blipFill>
        <p:spPr>
          <a:xfrm>
            <a:off x="731520" y="2107692"/>
            <a:ext cx="3474720" cy="2423160"/>
          </a:xfrm>
          <a:prstGeom prst="rect">
            <a:avLst/>
          </a:prstGeom>
        </p:spPr>
      </p:pic>
      <p:sp>
        <p:nvSpPr>
          <p:cNvPr id="11" name="Shape 7"/>
          <p:cNvSpPr/>
          <p:nvPr/>
        </p:nvSpPr>
        <p:spPr>
          <a:xfrm>
            <a:off x="731520" y="2107692"/>
            <a:ext cx="3474720" cy="2423160"/>
          </a:xfrm>
          <a:prstGeom prst="rect">
            <a:avLst/>
          </a:prstGeom>
          <a:ln w="12700">
            <a:solidFill>
              <a:srgbClr val="1B5E83"/>
            </a:solidFill>
            <a:prstDash val="solid"/>
          </a:ln>
        </p:spPr>
      </p:sp>
      <p:sp>
        <p:nvSpPr>
          <p:cNvPr id="12" name="Text 8"/>
          <p:cNvSpPr txBox="1"/>
          <p:nvPr/>
        </p:nvSpPr>
        <p:spPr>
          <a:xfrm>
            <a:off x="731520" y="4590288"/>
            <a:ext cx="3474720" cy="457200"/>
          </a:xfrm>
          <a:prstGeom prst="rect">
            <a:avLst/>
          </a:prstGeom>
          <a:noFill/>
          <a:ln/>
        </p:spPr>
        <p:txBody>
          <a:bodyPr wrap="square" lIns="0" tIns="0" rIns="0" bIns="0" rtlCol="0" anchor="t"/>
          <a:lstStyle/>
          <a:p>
            <a:pPr marL="0" indent="0">
              <a:buNone/>
            </a:pPr>
            <a:r>
              <a:rPr lang="en-US" sz="1300" b="1" dirty="0">
                <a:solidFill>
                  <a:srgbClr val="E8742C"/>
                </a:solidFill>
                <a:latin typeface="Calibri" pitchFamily="34" charset="0"/>
                <a:ea typeface="Calibri" pitchFamily="34" charset="-122"/>
                <a:cs typeface="Calibri" pitchFamily="34" charset="-120"/>
              </a:rPr>
              <a:t>Read it: </a:t>
            </a:r>
            <a:r>
              <a:rPr lang="en-US" sz="1300" dirty="0">
                <a:solidFill>
                  <a:srgbClr val="1F2937"/>
                </a:solidFill>
                <a:latin typeface="Calibri" pitchFamily="34" charset="0"/>
                <a:ea typeface="Calibri" pitchFamily="34" charset="-122"/>
                <a:cs typeface="Calibri" pitchFamily="34" charset="-120"/>
              </a:rPr>
              <a:t>longest bar = most-viewed category</a:t>
            </a:r>
            <a:endParaRPr lang="en-US" sz="1300" dirty="0"/>
          </a:p>
        </p:txBody>
      </p:sp>
      <p:sp>
        <p:nvSpPr>
          <p:cNvPr id="13" name="Shape 9"/>
          <p:cNvSpPr/>
          <p:nvPr/>
        </p:nvSpPr>
        <p:spPr>
          <a:xfrm>
            <a:off x="731520" y="5074920"/>
            <a:ext cx="3474720" cy="1280160"/>
          </a:xfrm>
          <a:prstGeom prst="rect">
            <a:avLst/>
          </a:prstGeom>
          <a:solidFill>
            <a:srgbClr val="F1F5F9"/>
          </a:solidFill>
          <a:ln w="9525">
            <a:solidFill>
              <a:srgbClr val="1B5E83"/>
            </a:solidFill>
            <a:prstDash val="solid"/>
          </a:ln>
        </p:spPr>
      </p:sp>
      <p:sp>
        <p:nvSpPr>
          <p:cNvPr id="14" name="Text 10"/>
          <p:cNvSpPr txBox="1"/>
          <p:nvPr/>
        </p:nvSpPr>
        <p:spPr>
          <a:xfrm>
            <a:off x="822960" y="5148072"/>
            <a:ext cx="3291840" cy="1133856"/>
          </a:xfrm>
          <a:prstGeom prst="rect">
            <a:avLst/>
          </a:prstGeom>
          <a:noFill/>
          <a:ln/>
        </p:spPr>
        <p:txBody>
          <a:bodyPr wrap="square" lIns="1016" tIns="1016" rIns="1016" bIns="1016" rtlCol="0" anchor="t"/>
          <a:lstStyle/>
          <a:p>
            <a:pPr marL="0" indent="0">
              <a:buNone/>
            </a:pPr>
            <a:r>
              <a:rPr lang="en-US" sz="1100" dirty="0">
                <a:solidFill>
                  <a:srgbClr val="15803D"/>
                </a:solidFill>
                <a:latin typeface="Consolas" pitchFamily="34" charset="0"/>
                <a:ea typeface="Consolas" pitchFamily="34" charset="-122"/>
                <a:cs typeface="Consolas" pitchFamily="34" charset="-120"/>
              </a:rPr>
              <a:t># Total views per category</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bar = f.groupby("category",</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   as_index=False)["views"].sum()</a:t>
            </a:r>
            <a:endParaRPr lang="en-US" sz="1100" dirty="0"/>
          </a:p>
          <a:p>
            <a:pPr marL="0" indent="0">
              <a:buNone/>
            </a:pPr>
            <a:r>
              <a:rPr lang="en-US" sz="1100" dirty="0">
                <a:solidFill>
                  <a:srgbClr val="15803D"/>
                </a:solidFill>
                <a:latin typeface="Consolas" pitchFamily="34" charset="0"/>
                <a:ea typeface="Consolas" pitchFamily="34" charset="-122"/>
                <a:cs typeface="Consolas" pitchFamily="34" charset="-120"/>
              </a:rPr>
              <a:t># Horizontal bar chart</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px.bar(bar, x="views",</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   y="category", orientation="h")</a:t>
            </a:r>
            <a:endParaRPr lang="en-US" sz="1100" dirty="0"/>
          </a:p>
        </p:txBody>
      </p:sp>
      <p:sp>
        <p:nvSpPr>
          <p:cNvPr id="15" name="Text 11"/>
          <p:cNvSpPr txBox="1"/>
          <p:nvPr/>
        </p:nvSpPr>
        <p:spPr>
          <a:xfrm>
            <a:off x="4389120" y="1783080"/>
            <a:ext cx="3474720" cy="274320"/>
          </a:xfrm>
          <a:prstGeom prst="rect">
            <a:avLst/>
          </a:prstGeom>
          <a:noFill/>
          <a:ln/>
        </p:spPr>
        <p:txBody>
          <a:bodyPr wrap="square" lIns="0" tIns="0" rIns="0" bIns="0" rtlCol="0" anchor="ctr"/>
          <a:lstStyle/>
          <a:p>
            <a:pPr marL="0" indent="0">
              <a:buNone/>
            </a:pPr>
            <a:r>
              <a:rPr lang="en-US" sz="1500" b="1" dirty="0">
                <a:solidFill>
                  <a:srgbClr val="1B5E83"/>
                </a:solidFill>
                <a:latin typeface="Calibri" pitchFamily="34" charset="0"/>
                <a:ea typeface="Calibri" pitchFamily="34" charset="-122"/>
                <a:cs typeface="Calibri" pitchFamily="34" charset="-120"/>
              </a:rPr>
              <a:t>Pie: videos by channel type</a:t>
            </a:r>
            <a:endParaRPr lang="en-US" sz="1500" dirty="0"/>
          </a:p>
        </p:txBody>
      </p:sp>
      <p:pic>
        <p:nvPicPr>
          <p:cNvPr id="16" name="Image 2" descr="Pie: videos by channel type"/>
          <p:cNvPicPr>
            <a:picLocks noChangeAspect="1"/>
          </p:cNvPicPr>
          <p:nvPr/>
        </p:nvPicPr>
        <p:blipFill>
          <a:blip r:embed="rId5"/>
          <a:stretch>
            <a:fillRect/>
          </a:stretch>
        </p:blipFill>
        <p:spPr>
          <a:xfrm>
            <a:off x="4389120" y="2107692"/>
            <a:ext cx="3474720" cy="2423160"/>
          </a:xfrm>
          <a:prstGeom prst="rect">
            <a:avLst/>
          </a:prstGeom>
        </p:spPr>
      </p:pic>
      <p:sp>
        <p:nvSpPr>
          <p:cNvPr id="17" name="Shape 12"/>
          <p:cNvSpPr/>
          <p:nvPr/>
        </p:nvSpPr>
        <p:spPr>
          <a:xfrm>
            <a:off x="4389120" y="2107692"/>
            <a:ext cx="3474720" cy="2423160"/>
          </a:xfrm>
          <a:prstGeom prst="rect">
            <a:avLst/>
          </a:prstGeom>
          <a:ln w="12700">
            <a:solidFill>
              <a:srgbClr val="1B5E83"/>
            </a:solidFill>
            <a:prstDash val="solid"/>
          </a:ln>
        </p:spPr>
      </p:sp>
      <p:sp>
        <p:nvSpPr>
          <p:cNvPr id="18" name="Text 13"/>
          <p:cNvSpPr txBox="1"/>
          <p:nvPr/>
        </p:nvSpPr>
        <p:spPr>
          <a:xfrm>
            <a:off x="4389120" y="4590288"/>
            <a:ext cx="3474720" cy="457200"/>
          </a:xfrm>
          <a:prstGeom prst="rect">
            <a:avLst/>
          </a:prstGeom>
          <a:noFill/>
          <a:ln/>
        </p:spPr>
        <p:txBody>
          <a:bodyPr wrap="square" lIns="0" tIns="0" rIns="0" bIns="0" rtlCol="0" anchor="t"/>
          <a:lstStyle/>
          <a:p>
            <a:pPr marL="0" indent="0">
              <a:buNone/>
            </a:pPr>
            <a:r>
              <a:rPr lang="en-US" sz="1300" b="1" dirty="0">
                <a:solidFill>
                  <a:srgbClr val="E8742C"/>
                </a:solidFill>
                <a:latin typeface="Calibri" pitchFamily="34" charset="0"/>
                <a:ea typeface="Calibri" pitchFamily="34" charset="-122"/>
                <a:cs typeface="Calibri" pitchFamily="34" charset="-120"/>
              </a:rPr>
              <a:t>Read it: </a:t>
            </a:r>
            <a:r>
              <a:rPr lang="en-US" sz="1300" dirty="0">
                <a:solidFill>
                  <a:srgbClr val="1F2937"/>
                </a:solidFill>
                <a:latin typeface="Calibri" pitchFamily="34" charset="0"/>
                <a:ea typeface="Calibri" pitchFamily="34" charset="-122"/>
                <a:cs typeface="Calibri" pitchFamily="34" charset="-120"/>
              </a:rPr>
              <a:t>biggest slice = most common channel type</a:t>
            </a:r>
            <a:endParaRPr lang="en-US" sz="1300" dirty="0"/>
          </a:p>
        </p:txBody>
      </p:sp>
      <p:sp>
        <p:nvSpPr>
          <p:cNvPr id="19" name="Shape 14"/>
          <p:cNvSpPr/>
          <p:nvPr/>
        </p:nvSpPr>
        <p:spPr>
          <a:xfrm>
            <a:off x="4389120" y="5074920"/>
            <a:ext cx="3474720" cy="1280160"/>
          </a:xfrm>
          <a:prstGeom prst="rect">
            <a:avLst/>
          </a:prstGeom>
          <a:solidFill>
            <a:srgbClr val="F1F5F9"/>
          </a:solidFill>
          <a:ln w="9525">
            <a:solidFill>
              <a:srgbClr val="1B5E83"/>
            </a:solidFill>
            <a:prstDash val="solid"/>
          </a:ln>
        </p:spPr>
      </p:sp>
      <p:sp>
        <p:nvSpPr>
          <p:cNvPr id="20" name="Text 15"/>
          <p:cNvSpPr txBox="1"/>
          <p:nvPr/>
        </p:nvSpPr>
        <p:spPr>
          <a:xfrm>
            <a:off x="4480560" y="5148072"/>
            <a:ext cx="3291840" cy="1133856"/>
          </a:xfrm>
          <a:prstGeom prst="rect">
            <a:avLst/>
          </a:prstGeom>
          <a:noFill/>
          <a:ln/>
        </p:spPr>
        <p:txBody>
          <a:bodyPr wrap="square" lIns="1016" tIns="1016" rIns="1016" bIns="1016" rtlCol="0" anchor="t"/>
          <a:lstStyle/>
          <a:p>
            <a:pPr marL="0" indent="0">
              <a:buNone/>
            </a:pPr>
            <a:r>
              <a:rPr lang="en-US" sz="1100" dirty="0">
                <a:solidFill>
                  <a:srgbClr val="15803D"/>
                </a:solidFill>
                <a:latin typeface="Consolas" pitchFamily="34" charset="0"/>
                <a:ea typeface="Consolas" pitchFamily="34" charset="-122"/>
                <a:cs typeface="Consolas" pitchFamily="34" charset="-120"/>
              </a:rPr>
              <a:t># Share of videos per channel</a:t>
            </a:r>
            <a:endParaRPr lang="en-US" sz="1100" dirty="0"/>
          </a:p>
          <a:p>
            <a:pPr marL="0" indent="0">
              <a:buNone/>
            </a:pPr>
            <a:r>
              <a:rPr lang="en-US" sz="1100" dirty="0">
                <a:solidFill>
                  <a:srgbClr val="15803D"/>
                </a:solidFill>
                <a:latin typeface="Consolas" pitchFamily="34" charset="0"/>
                <a:ea typeface="Consolas" pitchFamily="34" charset="-122"/>
                <a:cs typeface="Consolas" pitchFamily="34" charset="-120"/>
              </a:rPr>
              <a:t># tier (small, mid, large, mega)</a:t>
            </a:r>
            <a:endParaRPr lang="en-US" sz="1100" dirty="0"/>
          </a:p>
          <a:p>
            <a:pPr marL="0" indent="0">
              <a:buNone/>
            </a:pPr>
            <a:r>
              <a:rPr lang="en-US" sz="1100" dirty="0">
                <a:solidFill>
                  <a:srgbClr val="15803D"/>
                </a:solidFill>
                <a:latin typeface="Consolas" pitchFamily="34" charset="0"/>
                <a:ea typeface="Consolas" pitchFamily="34" charset="-122"/>
                <a:cs typeface="Consolas" pitchFamily="34" charset="-120"/>
              </a:rPr>
              <a:t># hole=0.45 makes it a donut</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px.pie(f, names="channel_tier",</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   hole=0.45)</a:t>
            </a:r>
            <a:endParaRPr lang="en-US" sz="1100" dirty="0"/>
          </a:p>
        </p:txBody>
      </p:sp>
      <p:sp>
        <p:nvSpPr>
          <p:cNvPr id="21" name="Text 16"/>
          <p:cNvSpPr txBox="1"/>
          <p:nvPr/>
        </p:nvSpPr>
        <p:spPr>
          <a:xfrm>
            <a:off x="8046720" y="1783080"/>
            <a:ext cx="3474720" cy="274320"/>
          </a:xfrm>
          <a:prstGeom prst="rect">
            <a:avLst/>
          </a:prstGeom>
          <a:noFill/>
          <a:ln/>
        </p:spPr>
        <p:txBody>
          <a:bodyPr wrap="square" lIns="0" tIns="0" rIns="0" bIns="0" rtlCol="0" anchor="ctr"/>
          <a:lstStyle/>
          <a:p>
            <a:pPr marL="0" indent="0">
              <a:buNone/>
            </a:pPr>
            <a:r>
              <a:rPr lang="en-US" sz="1500" b="1" dirty="0">
                <a:solidFill>
                  <a:srgbClr val="1B5E83"/>
                </a:solidFill>
                <a:latin typeface="Calibri" pitchFamily="34" charset="0"/>
                <a:ea typeface="Calibri" pitchFamily="34" charset="-122"/>
                <a:cs typeface="Calibri" pitchFamily="34" charset="-120"/>
              </a:rPr>
              <a:t>Line: views by month</a:t>
            </a:r>
            <a:endParaRPr lang="en-US" sz="1500" dirty="0"/>
          </a:p>
        </p:txBody>
      </p:sp>
      <p:pic>
        <p:nvPicPr>
          <p:cNvPr id="22" name="Image 3" descr="Line: views by month"/>
          <p:cNvPicPr>
            <a:picLocks noChangeAspect="1"/>
          </p:cNvPicPr>
          <p:nvPr/>
        </p:nvPicPr>
        <p:blipFill>
          <a:blip r:embed="rId6"/>
          <a:stretch>
            <a:fillRect/>
          </a:stretch>
        </p:blipFill>
        <p:spPr>
          <a:xfrm>
            <a:off x="8046720" y="2107692"/>
            <a:ext cx="3474720" cy="2423160"/>
          </a:xfrm>
          <a:prstGeom prst="rect">
            <a:avLst/>
          </a:prstGeom>
        </p:spPr>
      </p:pic>
      <p:sp>
        <p:nvSpPr>
          <p:cNvPr id="23" name="Shape 17"/>
          <p:cNvSpPr/>
          <p:nvPr/>
        </p:nvSpPr>
        <p:spPr>
          <a:xfrm>
            <a:off x="8046720" y="2107692"/>
            <a:ext cx="3474720" cy="2423160"/>
          </a:xfrm>
          <a:prstGeom prst="rect">
            <a:avLst/>
          </a:prstGeom>
          <a:ln w="12700">
            <a:solidFill>
              <a:srgbClr val="1B5E83"/>
            </a:solidFill>
            <a:prstDash val="solid"/>
          </a:ln>
        </p:spPr>
      </p:sp>
      <p:sp>
        <p:nvSpPr>
          <p:cNvPr id="24" name="Text 18"/>
          <p:cNvSpPr txBox="1"/>
          <p:nvPr/>
        </p:nvSpPr>
        <p:spPr>
          <a:xfrm>
            <a:off x="8046720" y="4590288"/>
            <a:ext cx="3474720" cy="457200"/>
          </a:xfrm>
          <a:prstGeom prst="rect">
            <a:avLst/>
          </a:prstGeom>
          <a:noFill/>
          <a:ln/>
        </p:spPr>
        <p:txBody>
          <a:bodyPr wrap="square" lIns="0" tIns="0" rIns="0" bIns="0" rtlCol="0" anchor="t"/>
          <a:lstStyle/>
          <a:p>
            <a:pPr marL="0" indent="0">
              <a:buNone/>
            </a:pPr>
            <a:r>
              <a:rPr lang="en-US" sz="1300" b="1" dirty="0">
                <a:solidFill>
                  <a:srgbClr val="E8742C"/>
                </a:solidFill>
                <a:latin typeface="Calibri" pitchFamily="34" charset="0"/>
                <a:ea typeface="Calibri" pitchFamily="34" charset="-122"/>
                <a:cs typeface="Calibri" pitchFamily="34" charset="-120"/>
              </a:rPr>
              <a:t>Read it: </a:t>
            </a:r>
            <a:r>
              <a:rPr lang="en-US" sz="1300" dirty="0">
                <a:solidFill>
                  <a:srgbClr val="1F2937"/>
                </a:solidFill>
                <a:latin typeface="Calibri" pitchFamily="34" charset="0"/>
                <a:ea typeface="Calibri" pitchFamily="34" charset="-122"/>
                <a:cs typeface="Calibri" pitchFamily="34" charset="-120"/>
              </a:rPr>
              <a:t>peaks = months with the most trending views</a:t>
            </a:r>
            <a:endParaRPr lang="en-US" sz="1300" dirty="0"/>
          </a:p>
        </p:txBody>
      </p:sp>
      <p:sp>
        <p:nvSpPr>
          <p:cNvPr id="25" name="Shape 19"/>
          <p:cNvSpPr/>
          <p:nvPr/>
        </p:nvSpPr>
        <p:spPr>
          <a:xfrm>
            <a:off x="8046720" y="5074920"/>
            <a:ext cx="3474720" cy="1280160"/>
          </a:xfrm>
          <a:prstGeom prst="rect">
            <a:avLst/>
          </a:prstGeom>
          <a:solidFill>
            <a:srgbClr val="F1F5F9"/>
          </a:solidFill>
          <a:ln w="9525">
            <a:solidFill>
              <a:srgbClr val="1B5E83"/>
            </a:solidFill>
            <a:prstDash val="solid"/>
          </a:ln>
        </p:spPr>
      </p:sp>
      <p:sp>
        <p:nvSpPr>
          <p:cNvPr id="26" name="Text 20"/>
          <p:cNvSpPr txBox="1"/>
          <p:nvPr/>
        </p:nvSpPr>
        <p:spPr>
          <a:xfrm>
            <a:off x="8138160" y="5148072"/>
            <a:ext cx="3291840" cy="1133856"/>
          </a:xfrm>
          <a:prstGeom prst="rect">
            <a:avLst/>
          </a:prstGeom>
          <a:noFill/>
          <a:ln/>
        </p:spPr>
        <p:txBody>
          <a:bodyPr wrap="square" lIns="1016" tIns="1016" rIns="1016" bIns="1016" rtlCol="0" anchor="t"/>
          <a:lstStyle/>
          <a:p>
            <a:pPr marL="0" indent="0">
              <a:buNone/>
            </a:pPr>
            <a:r>
              <a:rPr lang="en-US" sz="1100" dirty="0">
                <a:solidFill>
                  <a:srgbClr val="15803D"/>
                </a:solidFill>
                <a:latin typeface="Consolas" pitchFamily="34" charset="0"/>
                <a:ea typeface="Consolas" pitchFamily="34" charset="-122"/>
                <a:cs typeface="Consolas" pitchFamily="34" charset="-120"/>
              </a:rPr>
              <a:t># Total views per trending month</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line = f.groupby("trend_month",</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   as_index=False)["views"].sum()</a:t>
            </a:r>
            <a:endParaRPr lang="en-US" sz="1100" dirty="0"/>
          </a:p>
          <a:p>
            <a:pPr marL="0" indent="0">
              <a:buNone/>
            </a:pPr>
            <a:r>
              <a:rPr lang="en-US" sz="1100" dirty="0">
                <a:solidFill>
                  <a:srgbClr val="15803D"/>
                </a:solidFill>
                <a:latin typeface="Consolas" pitchFamily="34" charset="0"/>
                <a:ea typeface="Consolas" pitchFamily="34" charset="-122"/>
                <a:cs typeface="Consolas" pitchFamily="34" charset="-120"/>
              </a:rPr>
              <a:t># Line chart, marker on each month</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px.line(line, x="trend_month",</a:t>
            </a:r>
            <a:endParaRPr lang="en-US" sz="1100" dirty="0"/>
          </a:p>
          <a:p>
            <a:pPr marL="0" indent="0">
              <a:buNone/>
            </a:pPr>
            <a:r>
              <a:rPr lang="en-US" sz="1100" dirty="0">
                <a:solidFill>
                  <a:srgbClr val="1F2937"/>
                </a:solidFill>
                <a:latin typeface="Consolas" pitchFamily="34" charset="0"/>
                <a:ea typeface="Consolas" pitchFamily="34" charset="-122"/>
                <a:cs typeface="Consolas" pitchFamily="34" charset="-120"/>
              </a:rPr>
              <a:t>   y="views", markers=True)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Sorted Table, CSV Download and Insights</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pic>
        <p:nvPicPr>
          <p:cNvPr id="7" name="Image 1" descr="Sorted table and insights"/>
          <p:cNvPicPr>
            <a:picLocks noChangeAspect="1"/>
          </p:cNvPicPr>
          <p:nvPr/>
        </p:nvPicPr>
        <p:blipFill>
          <a:blip r:embed="rId4"/>
          <a:stretch>
            <a:fillRect/>
          </a:stretch>
        </p:blipFill>
        <p:spPr>
          <a:xfrm>
            <a:off x="796671" y="2011680"/>
            <a:ext cx="5081778" cy="3566160"/>
          </a:xfrm>
          <a:prstGeom prst="rect">
            <a:avLst/>
          </a:prstGeom>
        </p:spPr>
      </p:pic>
      <p:sp>
        <p:nvSpPr>
          <p:cNvPr id="8" name="Shape 4"/>
          <p:cNvSpPr/>
          <p:nvPr/>
        </p:nvSpPr>
        <p:spPr>
          <a:xfrm>
            <a:off x="796671" y="2011680"/>
            <a:ext cx="5081778" cy="3566160"/>
          </a:xfrm>
          <a:prstGeom prst="rect">
            <a:avLst/>
          </a:prstGeom>
          <a:ln w="12700">
            <a:solidFill>
              <a:srgbClr val="1B5E83"/>
            </a:solidFill>
            <a:prstDash val="solid"/>
          </a:ln>
        </p:spPr>
      </p:sp>
      <p:sp>
        <p:nvSpPr>
          <p:cNvPr id="9" name="Shape 5"/>
          <p:cNvSpPr/>
          <p:nvPr/>
        </p:nvSpPr>
        <p:spPr>
          <a:xfrm>
            <a:off x="4506849" y="1764792"/>
            <a:ext cx="1280160" cy="201168"/>
          </a:xfrm>
          <a:prstGeom prst="roundRect">
            <a:avLst>
              <a:gd name="adj" fmla="val 22727"/>
            </a:avLst>
          </a:prstGeom>
          <a:solidFill>
            <a:srgbClr val="E8742C"/>
          </a:solidFill>
          <a:ln w="12700">
            <a:solidFill>
              <a:srgbClr val="E8742C"/>
            </a:solidFill>
            <a:prstDash val="solid"/>
          </a:ln>
        </p:spPr>
      </p:sp>
      <p:sp>
        <p:nvSpPr>
          <p:cNvPr id="10" name="Text 6"/>
          <p:cNvSpPr txBox="1"/>
          <p:nvPr/>
        </p:nvSpPr>
        <p:spPr>
          <a:xfrm>
            <a:off x="4506849" y="1764792"/>
            <a:ext cx="12801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SAMPLE OUTPUT</a:t>
            </a:r>
            <a:endParaRPr lang="en-US" sz="900" dirty="0"/>
          </a:p>
        </p:txBody>
      </p:sp>
      <p:sp>
        <p:nvSpPr>
          <p:cNvPr id="11" name="Text 7"/>
          <p:cNvSpPr txBox="1"/>
          <p:nvPr/>
        </p:nvSpPr>
        <p:spPr>
          <a:xfrm>
            <a:off x="731520" y="5669280"/>
            <a:ext cx="5212080" cy="64008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Insights box: top category, best-engaging channel type and top country.</a:t>
            </a:r>
            <a:endParaRPr lang="en-US" sz="1400" dirty="0"/>
          </a:p>
        </p:txBody>
      </p:sp>
      <p:sp>
        <p:nvSpPr>
          <p:cNvPr id="12" name="Shape 8"/>
          <p:cNvSpPr/>
          <p:nvPr/>
        </p:nvSpPr>
        <p:spPr>
          <a:xfrm>
            <a:off x="6217920" y="2011680"/>
            <a:ext cx="5303520" cy="3840480"/>
          </a:xfrm>
          <a:prstGeom prst="rect">
            <a:avLst/>
          </a:prstGeom>
          <a:solidFill>
            <a:srgbClr val="F1F5F9"/>
          </a:solidFill>
          <a:ln w="9525">
            <a:solidFill>
              <a:srgbClr val="1B5E83"/>
            </a:solidFill>
            <a:prstDash val="solid"/>
          </a:ln>
        </p:spPr>
      </p:sp>
      <p:sp>
        <p:nvSpPr>
          <p:cNvPr id="13" name="Text 9"/>
          <p:cNvSpPr txBox="1"/>
          <p:nvPr/>
        </p:nvSpPr>
        <p:spPr>
          <a:xfrm>
            <a:off x="6309360" y="2084832"/>
            <a:ext cx="5120640" cy="3694176"/>
          </a:xfrm>
          <a:prstGeom prst="rect">
            <a:avLst/>
          </a:prstGeom>
          <a:noFill/>
          <a:ln/>
        </p:spPr>
        <p:txBody>
          <a:bodyPr wrap="square" lIns="1016" tIns="1016" rIns="1016" bIns="1016" rtlCol="0" anchor="t"/>
          <a:lstStyle/>
          <a:p>
            <a:pPr marL="0" indent="0">
              <a:buNone/>
            </a:pPr>
            <a:r>
              <a:rPr lang="en-US" sz="1350" dirty="0">
                <a:solidFill>
                  <a:srgbClr val="15803D"/>
                </a:solidFill>
                <a:latin typeface="Consolas" pitchFamily="34" charset="0"/>
                <a:ea typeface="Consolas" pitchFamily="34" charset="-122"/>
                <a:cs typeface="Consolas" pitchFamily="34" charset="-120"/>
              </a:rPr>
              <a:t># Sort the filtered data, keep the top N rows</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table = (f.sort_values(sort_col,</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                       ascending=ascending)</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          .head(int(top_n)))</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st.dataframe(table[cols], hide_index=True)</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 </a:t>
            </a:r>
            <a:endParaRPr lang="en-US" sz="1350" dirty="0"/>
          </a:p>
          <a:p>
            <a:pPr marL="0" indent="0">
              <a:buNone/>
            </a:pPr>
            <a:r>
              <a:rPr lang="en-US" sz="1350" dirty="0">
                <a:solidFill>
                  <a:srgbClr val="15803D"/>
                </a:solidFill>
                <a:latin typeface="Consolas" pitchFamily="34" charset="0"/>
                <a:ea typeface="Consolas" pitchFamily="34" charset="-122"/>
                <a:cs typeface="Consolas" pitchFamily="34" charset="-120"/>
              </a:rPr>
              <a:t># Button: download the filtered data as CSV</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st.download_button(</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    "Download filtered data (CSV)",</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    f.to_csv(index=False), "filtered_data.csv")</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 </a:t>
            </a:r>
            <a:endParaRPr lang="en-US" sz="1350" dirty="0"/>
          </a:p>
          <a:p>
            <a:pPr marL="0" indent="0">
              <a:buNone/>
            </a:pPr>
            <a:r>
              <a:rPr lang="en-US" sz="1350" dirty="0">
                <a:solidFill>
                  <a:srgbClr val="15803D"/>
                </a:solidFill>
                <a:latin typeface="Consolas" pitchFamily="34" charset="0"/>
                <a:ea typeface="Consolas" pitchFamily="34" charset="-122"/>
                <a:cs typeface="Consolas" pitchFamily="34" charset="-120"/>
              </a:rPr>
              <a:t># Insights: top category, tier and country</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top_cat = bar.iloc[-1]["category"]</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best_tier = (f.groupby("channel_tier")</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             .engagement_rate.mean().idxmax())</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top_country = (f.groupby("country")</a:t>
            </a:r>
            <a:endParaRPr lang="en-US" sz="1350" dirty="0"/>
          </a:p>
          <a:p>
            <a:pPr marL="0" indent="0">
              <a:buNone/>
            </a:pPr>
            <a:r>
              <a:rPr lang="en-US" sz="1350" dirty="0">
                <a:solidFill>
                  <a:srgbClr val="1F2937"/>
                </a:solidFill>
                <a:latin typeface="Consolas" pitchFamily="34" charset="0"/>
                <a:ea typeface="Consolas" pitchFamily="34" charset="-122"/>
                <a:cs typeface="Consolas" pitchFamily="34" charset="-120"/>
              </a:rPr>
              <a:t>               .views.sum().idxmax())</a:t>
            </a:r>
            <a:endParaRPr lang="en-US" sz="1350" dirty="0"/>
          </a:p>
        </p:txBody>
      </p:sp>
      <p:sp>
        <p:nvSpPr>
          <p:cNvPr id="14" name="Text 10"/>
          <p:cNvSpPr txBox="1"/>
          <p:nvPr/>
        </p:nvSpPr>
        <p:spPr>
          <a:xfrm>
            <a:off x="6217920" y="5897880"/>
            <a:ext cx="5303520" cy="27432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logo_small.png"/>
          <p:cNvPicPr>
            <a:picLocks noChangeAspect="1"/>
          </p:cNvPicPr>
          <p:nvPr/>
        </p:nvPicPr>
        <p:blipFill>
          <a:blip r:embed="rId3"/>
          <a:stretch>
            <a:fillRect/>
          </a:stretch>
        </p:blipFill>
        <p:spPr>
          <a:xfrm>
            <a:off x="-240487" y="-243230"/>
            <a:ext cx="3249778" cy="1800454"/>
          </a:xfrm>
          <a:prstGeom prst="rect">
            <a:avLst/>
          </a:prstGeom>
        </p:spPr>
      </p:pic>
      <p:sp>
        <p:nvSpPr>
          <p:cNvPr id="3" name="Text 0"/>
          <p:cNvSpPr txBox="1"/>
          <p:nvPr/>
        </p:nvSpPr>
        <p:spPr>
          <a:xfrm>
            <a:off x="2468880" y="393192"/>
            <a:ext cx="7315200" cy="365760"/>
          </a:xfrm>
          <a:prstGeom prst="rect">
            <a:avLst/>
          </a:prstGeom>
          <a:noFill/>
          <a:ln/>
        </p:spPr>
        <p:txBody>
          <a:bodyPr wrap="square" lIns="0" tIns="0" rIns="0" bIns="0" rtlCol="0" anchor="ctr"/>
          <a:lstStyle/>
          <a:p>
            <a:pPr marL="0" indent="0">
              <a:buNone/>
            </a:pPr>
            <a:endParaRPr lang="en-US" sz="1200" dirty="0"/>
          </a:p>
        </p:txBody>
      </p:sp>
      <p:sp>
        <p:nvSpPr>
          <p:cNvPr id="4" name="Text 1"/>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Relevant DAE Concepts</a:t>
            </a:r>
            <a:endParaRPr lang="en-US" sz="3200" dirty="0"/>
          </a:p>
        </p:txBody>
      </p:sp>
      <p:sp>
        <p:nvSpPr>
          <p:cNvPr id="5" name="Text 2"/>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6" name="Text 3"/>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731520" y="1828800"/>
            <a:ext cx="5212080" cy="1280160"/>
          </a:xfrm>
          <a:prstGeom prst="rect">
            <a:avLst/>
          </a:prstGeom>
          <a:solidFill>
            <a:srgbClr val="F1F5F9"/>
          </a:solidFill>
          <a:ln w="9525">
            <a:solidFill>
              <a:srgbClr val="1B5E83"/>
            </a:solidFill>
            <a:prstDash val="solid"/>
          </a:ln>
        </p:spPr>
      </p:sp>
      <p:sp>
        <p:nvSpPr>
          <p:cNvPr id="8" name="Text 5"/>
          <p:cNvSpPr txBox="1"/>
          <p:nvPr/>
        </p:nvSpPr>
        <p:spPr>
          <a:xfrm>
            <a:off x="822960" y="1901952"/>
            <a:ext cx="5029200" cy="1133856"/>
          </a:xfrm>
          <a:prstGeom prst="rect">
            <a:avLst/>
          </a:prstGeom>
          <a:noFill/>
          <a:ln/>
        </p:spPr>
        <p:txBody>
          <a:bodyPr wrap="square" lIns="1016" tIns="1016" rIns="1016" bIns="1016" rtlCol="0" anchor="t"/>
          <a:lstStyle/>
          <a:p>
            <a:pPr marL="0" indent="0">
              <a:spcAft>
                <a:spcPts val="600"/>
              </a:spcAft>
              <a:buNone/>
            </a:pPr>
            <a:r>
              <a:rPr lang="en-US" sz="1900" b="1" dirty="0">
                <a:solidFill>
                  <a:srgbClr val="1B5E83"/>
                </a:solidFill>
                <a:latin typeface="Calibri" pitchFamily="34" charset="0"/>
                <a:ea typeface="Calibri" pitchFamily="34" charset="-122"/>
                <a:cs typeface="Calibri" pitchFamily="34" charset="-120"/>
              </a:rPr>
              <a:t>Data Collection</a:t>
            </a:r>
            <a:endParaRPr lang="en-US" sz="1900" dirty="0"/>
          </a:p>
          <a:p>
            <a:pPr marL="0" indent="0">
              <a:buNone/>
            </a:pPr>
            <a:r>
              <a:rPr lang="en-US" sz="1700" dirty="0">
                <a:solidFill>
                  <a:srgbClr val="1F2937"/>
                </a:solidFill>
                <a:latin typeface="Calibri" pitchFamily="34" charset="0"/>
                <a:ea typeface="Calibri" pitchFamily="34" charset="-122"/>
                <a:cs typeface="Calibri" pitchFamily="34" charset="-120"/>
              </a:rPr>
              <a:t>Loading the YouTube trending dataset from Excel with Pandas</a:t>
            </a:r>
            <a:endParaRPr lang="en-US" sz="1900" dirty="0"/>
          </a:p>
        </p:txBody>
      </p:sp>
      <p:sp>
        <p:nvSpPr>
          <p:cNvPr id="9" name="Shape 6"/>
          <p:cNvSpPr/>
          <p:nvPr/>
        </p:nvSpPr>
        <p:spPr>
          <a:xfrm>
            <a:off x="6309360" y="1828800"/>
            <a:ext cx="5212080" cy="1280160"/>
          </a:xfrm>
          <a:prstGeom prst="rect">
            <a:avLst/>
          </a:prstGeom>
          <a:solidFill>
            <a:srgbClr val="F1F5F9"/>
          </a:solidFill>
          <a:ln w="9525">
            <a:solidFill>
              <a:srgbClr val="1B5E83"/>
            </a:solidFill>
            <a:prstDash val="solid"/>
          </a:ln>
        </p:spPr>
      </p:sp>
      <p:sp>
        <p:nvSpPr>
          <p:cNvPr id="10" name="Text 7"/>
          <p:cNvSpPr txBox="1"/>
          <p:nvPr/>
        </p:nvSpPr>
        <p:spPr>
          <a:xfrm>
            <a:off x="6400800" y="1901952"/>
            <a:ext cx="5029200" cy="1133856"/>
          </a:xfrm>
          <a:prstGeom prst="rect">
            <a:avLst/>
          </a:prstGeom>
          <a:noFill/>
          <a:ln/>
        </p:spPr>
        <p:txBody>
          <a:bodyPr wrap="square" lIns="1016" tIns="1016" rIns="1016" bIns="1016" rtlCol="0" anchor="t"/>
          <a:lstStyle/>
          <a:p>
            <a:pPr marL="0" indent="0">
              <a:spcAft>
                <a:spcPts val="600"/>
              </a:spcAft>
              <a:buNone/>
            </a:pPr>
            <a:r>
              <a:rPr lang="en-US" sz="1900" b="1" dirty="0">
                <a:solidFill>
                  <a:srgbClr val="1B5E83"/>
                </a:solidFill>
                <a:latin typeface="Calibri" pitchFamily="34" charset="0"/>
                <a:ea typeface="Calibri" pitchFamily="34" charset="-122"/>
                <a:cs typeface="Calibri" pitchFamily="34" charset="-120"/>
              </a:rPr>
              <a:t>Preprocessing</a:t>
            </a:r>
            <a:endParaRPr lang="en-US" sz="1900" dirty="0"/>
          </a:p>
          <a:p>
            <a:pPr marL="0" indent="0">
              <a:buNone/>
            </a:pPr>
            <a:r>
              <a:rPr lang="en-US" sz="1700" dirty="0">
                <a:solidFill>
                  <a:srgbClr val="1F2937"/>
                </a:solidFill>
                <a:latin typeface="Calibri" pitchFamily="34" charset="0"/>
                <a:ea typeface="Calibri" pitchFamily="34" charset="-122"/>
                <a:cs typeface="Calibri" pitchFamily="34" charset="-120"/>
              </a:rPr>
              <a:t>Cleaning, standardisation and validation of counts and dates</a:t>
            </a:r>
            <a:endParaRPr lang="en-US" sz="1900" dirty="0"/>
          </a:p>
        </p:txBody>
      </p:sp>
      <p:sp>
        <p:nvSpPr>
          <p:cNvPr id="11" name="Shape 8"/>
          <p:cNvSpPr/>
          <p:nvPr/>
        </p:nvSpPr>
        <p:spPr>
          <a:xfrm>
            <a:off x="731520" y="3291840"/>
            <a:ext cx="5212080" cy="1280160"/>
          </a:xfrm>
          <a:prstGeom prst="rect">
            <a:avLst/>
          </a:prstGeom>
          <a:solidFill>
            <a:srgbClr val="F1F5F9"/>
          </a:solidFill>
          <a:ln w="9525">
            <a:solidFill>
              <a:srgbClr val="1B5E83"/>
            </a:solidFill>
            <a:prstDash val="solid"/>
          </a:ln>
        </p:spPr>
      </p:sp>
      <p:sp>
        <p:nvSpPr>
          <p:cNvPr id="12" name="Text 9"/>
          <p:cNvSpPr txBox="1"/>
          <p:nvPr/>
        </p:nvSpPr>
        <p:spPr>
          <a:xfrm>
            <a:off x="822960" y="3364992"/>
            <a:ext cx="5029200" cy="1133856"/>
          </a:xfrm>
          <a:prstGeom prst="rect">
            <a:avLst/>
          </a:prstGeom>
          <a:noFill/>
          <a:ln/>
        </p:spPr>
        <p:txBody>
          <a:bodyPr wrap="square" lIns="1016" tIns="1016" rIns="1016" bIns="1016" rtlCol="0" anchor="t"/>
          <a:lstStyle/>
          <a:p>
            <a:pPr marL="0" indent="0">
              <a:spcAft>
                <a:spcPts val="600"/>
              </a:spcAft>
              <a:buNone/>
            </a:pPr>
            <a:r>
              <a:rPr lang="en-US" sz="1900" b="1" dirty="0">
                <a:solidFill>
                  <a:srgbClr val="1B5E83"/>
                </a:solidFill>
                <a:latin typeface="Calibri" pitchFamily="34" charset="0"/>
                <a:ea typeface="Calibri" pitchFamily="34" charset="-122"/>
                <a:cs typeface="Calibri" pitchFamily="34" charset="-120"/>
              </a:rPr>
              <a:t>Feature Engineering</a:t>
            </a:r>
            <a:endParaRPr lang="en-US" sz="1900" dirty="0"/>
          </a:p>
          <a:p>
            <a:pPr marL="0" indent="0">
              <a:buNone/>
            </a:pPr>
            <a:r>
              <a:rPr lang="en-US" sz="1700" dirty="0">
                <a:solidFill>
                  <a:srgbClr val="1F2937"/>
                </a:solidFill>
                <a:latin typeface="Calibri" pitchFamily="34" charset="0"/>
                <a:ea typeface="Calibri" pitchFamily="34" charset="-122"/>
                <a:cs typeface="Calibri" pitchFamily="34" charset="-120"/>
              </a:rPr>
              <a:t>engagement_rate, like_rate, log10_views and trend_month</a:t>
            </a:r>
            <a:endParaRPr lang="en-US" sz="1900" dirty="0"/>
          </a:p>
        </p:txBody>
      </p:sp>
      <p:sp>
        <p:nvSpPr>
          <p:cNvPr id="13" name="Shape 10"/>
          <p:cNvSpPr/>
          <p:nvPr/>
        </p:nvSpPr>
        <p:spPr>
          <a:xfrm>
            <a:off x="6309360" y="3291840"/>
            <a:ext cx="5212080" cy="1280160"/>
          </a:xfrm>
          <a:prstGeom prst="rect">
            <a:avLst/>
          </a:prstGeom>
          <a:solidFill>
            <a:srgbClr val="F1F5F9"/>
          </a:solidFill>
          <a:ln w="9525">
            <a:solidFill>
              <a:srgbClr val="1B5E83"/>
            </a:solidFill>
            <a:prstDash val="solid"/>
          </a:ln>
        </p:spPr>
      </p:sp>
      <p:sp>
        <p:nvSpPr>
          <p:cNvPr id="14" name="Text 11"/>
          <p:cNvSpPr txBox="1"/>
          <p:nvPr/>
        </p:nvSpPr>
        <p:spPr>
          <a:xfrm>
            <a:off x="6400800" y="3364992"/>
            <a:ext cx="5029200" cy="1133856"/>
          </a:xfrm>
          <a:prstGeom prst="rect">
            <a:avLst/>
          </a:prstGeom>
          <a:noFill/>
          <a:ln/>
        </p:spPr>
        <p:txBody>
          <a:bodyPr wrap="square" lIns="1016" tIns="1016" rIns="1016" bIns="1016" rtlCol="0" anchor="t"/>
          <a:lstStyle/>
          <a:p>
            <a:pPr marL="0" indent="0">
              <a:spcAft>
                <a:spcPts val="600"/>
              </a:spcAft>
              <a:buNone/>
            </a:pPr>
            <a:r>
              <a:rPr lang="en-US" sz="1900" b="1" dirty="0">
                <a:solidFill>
                  <a:srgbClr val="1B5E83"/>
                </a:solidFill>
                <a:latin typeface="Calibri" pitchFamily="34" charset="0"/>
                <a:ea typeface="Calibri" pitchFamily="34" charset="-122"/>
                <a:cs typeface="Calibri" pitchFamily="34" charset="-120"/>
              </a:rPr>
              <a:t>Visualization</a:t>
            </a:r>
            <a:endParaRPr lang="en-US" sz="1900" dirty="0"/>
          </a:p>
          <a:p>
            <a:pPr marL="0" indent="0">
              <a:buNone/>
            </a:pPr>
            <a:r>
              <a:rPr lang="en-US" sz="1700" dirty="0">
                <a:solidFill>
                  <a:srgbClr val="1F2937"/>
                </a:solidFill>
                <a:latin typeface="Calibri" pitchFamily="34" charset="0"/>
                <a:ea typeface="Calibri" pitchFamily="34" charset="-122"/>
                <a:cs typeface="Calibri" pitchFamily="34" charset="-120"/>
              </a:rPr>
              <a:t>Bar, pie and line charts that update with the filters</a:t>
            </a:r>
            <a:endParaRPr lang="en-US" sz="1900" dirty="0"/>
          </a:p>
        </p:txBody>
      </p:sp>
      <p:sp>
        <p:nvSpPr>
          <p:cNvPr id="15" name="Shape 12"/>
          <p:cNvSpPr/>
          <p:nvPr/>
        </p:nvSpPr>
        <p:spPr>
          <a:xfrm>
            <a:off x="731520" y="4754880"/>
            <a:ext cx="5212080" cy="1280160"/>
          </a:xfrm>
          <a:prstGeom prst="rect">
            <a:avLst/>
          </a:prstGeom>
          <a:solidFill>
            <a:srgbClr val="F1F5F9"/>
          </a:solidFill>
          <a:ln w="9525">
            <a:solidFill>
              <a:srgbClr val="1B5E83"/>
            </a:solidFill>
            <a:prstDash val="solid"/>
          </a:ln>
        </p:spPr>
      </p:sp>
      <p:sp>
        <p:nvSpPr>
          <p:cNvPr id="16" name="Text 13"/>
          <p:cNvSpPr txBox="1"/>
          <p:nvPr/>
        </p:nvSpPr>
        <p:spPr>
          <a:xfrm>
            <a:off x="822960" y="4828032"/>
            <a:ext cx="5029200" cy="1133856"/>
          </a:xfrm>
          <a:prstGeom prst="rect">
            <a:avLst/>
          </a:prstGeom>
          <a:noFill/>
          <a:ln/>
        </p:spPr>
        <p:txBody>
          <a:bodyPr wrap="square" lIns="1016" tIns="1016" rIns="1016" bIns="1016" rtlCol="0" anchor="t"/>
          <a:lstStyle/>
          <a:p>
            <a:pPr marL="0" indent="0">
              <a:spcAft>
                <a:spcPts val="600"/>
              </a:spcAft>
              <a:buNone/>
            </a:pPr>
            <a:r>
              <a:rPr lang="en-US" sz="1900" b="1" dirty="0">
                <a:solidFill>
                  <a:srgbClr val="1B5E83"/>
                </a:solidFill>
                <a:latin typeface="Calibri" pitchFamily="34" charset="0"/>
                <a:ea typeface="Calibri" pitchFamily="34" charset="-122"/>
                <a:cs typeface="Calibri" pitchFamily="34" charset="-120"/>
              </a:rPr>
              <a:t>Insight Generation</a:t>
            </a:r>
            <a:endParaRPr lang="en-US" sz="1900" dirty="0"/>
          </a:p>
          <a:p>
            <a:pPr marL="0" indent="0">
              <a:buNone/>
            </a:pPr>
            <a:r>
              <a:rPr lang="en-US" sz="1700" dirty="0">
                <a:solidFill>
                  <a:srgbClr val="1F2937"/>
                </a:solidFill>
                <a:latin typeface="Calibri" pitchFamily="34" charset="0"/>
                <a:ea typeface="Calibri" pitchFamily="34" charset="-122"/>
                <a:cs typeface="Calibri" pitchFamily="34" charset="-120"/>
              </a:rPr>
              <a:t>Top category, best-engaging channel type, top country</a:t>
            </a:r>
            <a:endParaRPr lang="en-US" sz="1900" dirty="0"/>
          </a:p>
        </p:txBody>
      </p:sp>
      <p:sp>
        <p:nvSpPr>
          <p:cNvPr id="17" name="Shape 14"/>
          <p:cNvSpPr/>
          <p:nvPr/>
        </p:nvSpPr>
        <p:spPr>
          <a:xfrm>
            <a:off x="6309360" y="4754880"/>
            <a:ext cx="5212080" cy="1280160"/>
          </a:xfrm>
          <a:prstGeom prst="rect">
            <a:avLst/>
          </a:prstGeom>
          <a:solidFill>
            <a:srgbClr val="F1F5F9"/>
          </a:solidFill>
          <a:ln w="9525">
            <a:solidFill>
              <a:srgbClr val="1B5E83"/>
            </a:solidFill>
            <a:prstDash val="solid"/>
          </a:ln>
        </p:spPr>
      </p:sp>
      <p:sp>
        <p:nvSpPr>
          <p:cNvPr id="18" name="Text 15"/>
          <p:cNvSpPr txBox="1"/>
          <p:nvPr/>
        </p:nvSpPr>
        <p:spPr>
          <a:xfrm>
            <a:off x="6400800" y="4828032"/>
            <a:ext cx="5029200" cy="1133856"/>
          </a:xfrm>
          <a:prstGeom prst="rect">
            <a:avLst/>
          </a:prstGeom>
          <a:noFill/>
          <a:ln/>
        </p:spPr>
        <p:txBody>
          <a:bodyPr wrap="square" lIns="1016" tIns="1016" rIns="1016" bIns="1016" rtlCol="0" anchor="t"/>
          <a:lstStyle/>
          <a:p>
            <a:pPr marL="0" indent="0">
              <a:spcAft>
                <a:spcPts val="600"/>
              </a:spcAft>
              <a:buNone/>
            </a:pPr>
            <a:r>
              <a:rPr lang="en-US" sz="1900" b="1" dirty="0">
                <a:solidFill>
                  <a:srgbClr val="1B5E83"/>
                </a:solidFill>
                <a:latin typeface="Calibri" pitchFamily="34" charset="0"/>
                <a:ea typeface="Calibri" pitchFamily="34" charset="-122"/>
                <a:cs typeface="Calibri" pitchFamily="34" charset="-120"/>
              </a:rPr>
              <a:t>Programming Concepts</a:t>
            </a:r>
            <a:endParaRPr lang="en-US" sz="1900" dirty="0"/>
          </a:p>
          <a:p>
            <a:pPr marL="0" indent="0">
              <a:buNone/>
            </a:pPr>
            <a:r>
              <a:rPr lang="en-US" sz="1700" dirty="0">
                <a:solidFill>
                  <a:srgbClr val="1F2937"/>
                </a:solidFill>
                <a:latin typeface="Calibri" pitchFamily="34" charset="0"/>
                <a:ea typeface="Calibri" pitchFamily="34" charset="-122"/>
                <a:cs typeface="Calibri" pitchFamily="34" charset="-120"/>
              </a:rPr>
              <a:t>Functions, loops, boolean filtering, groupby and @st.cache_data</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logo_small.png">
            <a:extLst>
              <a:ext uri="{FF2B5EF4-FFF2-40B4-BE49-F238E27FC236}">
                <a16:creationId xmlns:a16="http://schemas.microsoft.com/office/drawing/2014/main" id="{A0D563FE-068B-BF10-E670-1050A0E2AAD2}"/>
              </a:ext>
            </a:extLst>
          </p:cNvPr>
          <p:cNvPicPr>
            <a:picLocks noChangeAspect="1"/>
          </p:cNvPicPr>
          <p:nvPr/>
        </p:nvPicPr>
        <p:blipFill>
          <a:blip r:embed="rId2"/>
          <a:stretch>
            <a:fillRect/>
          </a:stretch>
        </p:blipFill>
        <p:spPr>
          <a:xfrm>
            <a:off x="-240487" y="-243230"/>
            <a:ext cx="3249778" cy="1800454"/>
          </a:xfrm>
          <a:prstGeom prst="rect">
            <a:avLst/>
          </a:prstGeom>
        </p:spPr>
      </p:pic>
      <p:sp>
        <p:nvSpPr>
          <p:cNvPr id="5" name="Text 0">
            <a:extLst>
              <a:ext uri="{FF2B5EF4-FFF2-40B4-BE49-F238E27FC236}">
                <a16:creationId xmlns:a16="http://schemas.microsoft.com/office/drawing/2014/main" id="{4741604A-E973-3F1B-0962-6768767AE28A}"/>
              </a:ext>
            </a:extLst>
          </p:cNvPr>
          <p:cNvSpPr txBox="1"/>
          <p:nvPr/>
        </p:nvSpPr>
        <p:spPr>
          <a:xfrm>
            <a:off x="2743200" y="411480"/>
            <a:ext cx="7315200" cy="365760"/>
          </a:xfrm>
          <a:prstGeom prst="rect">
            <a:avLst/>
          </a:prstGeom>
          <a:noFill/>
          <a:ln/>
        </p:spPr>
        <p:txBody>
          <a:bodyPr wrap="square" lIns="0" tIns="0" rIns="0" bIns="0" rtlCol="0" anchor="ctr"/>
          <a:lstStyle/>
          <a:p>
            <a:pPr marL="0" indent="0">
              <a:buNone/>
            </a:pPr>
            <a:endParaRPr lang="en-US" sz="1200" dirty="0"/>
          </a:p>
        </p:txBody>
      </p:sp>
      <p:sp>
        <p:nvSpPr>
          <p:cNvPr id="7" name="Text 1">
            <a:extLst>
              <a:ext uri="{FF2B5EF4-FFF2-40B4-BE49-F238E27FC236}">
                <a16:creationId xmlns:a16="http://schemas.microsoft.com/office/drawing/2014/main" id="{7AB11AD7-09FC-AF52-9473-D24CD38091DA}"/>
              </a:ext>
            </a:extLst>
          </p:cNvPr>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Programming Concepts Used</a:t>
            </a:r>
            <a:endParaRPr lang="en-US" sz="3200" dirty="0"/>
          </a:p>
        </p:txBody>
      </p:sp>
      <p:sp>
        <p:nvSpPr>
          <p:cNvPr id="9" name="Text 2">
            <a:extLst>
              <a:ext uri="{FF2B5EF4-FFF2-40B4-BE49-F238E27FC236}">
                <a16:creationId xmlns:a16="http://schemas.microsoft.com/office/drawing/2014/main" id="{195B81DA-3A4D-A203-3512-6ECCA4B46B72}"/>
              </a:ext>
            </a:extLst>
          </p:cNvPr>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11" name="Text 3">
            <a:extLst>
              <a:ext uri="{FF2B5EF4-FFF2-40B4-BE49-F238E27FC236}">
                <a16:creationId xmlns:a16="http://schemas.microsoft.com/office/drawing/2014/main" id="{4ADBDAD7-05B7-48EE-49E7-73B7DC58C46D}"/>
              </a:ext>
            </a:extLst>
          </p:cNvPr>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
        <p:nvSpPr>
          <p:cNvPr id="13" name="Shape 4">
            <a:extLst>
              <a:ext uri="{FF2B5EF4-FFF2-40B4-BE49-F238E27FC236}">
                <a16:creationId xmlns:a16="http://schemas.microsoft.com/office/drawing/2014/main" id="{F31CD6F2-CA9E-A404-9A4C-216A3DF09FB7}"/>
              </a:ext>
            </a:extLst>
          </p:cNvPr>
          <p:cNvSpPr/>
          <p:nvPr/>
        </p:nvSpPr>
        <p:spPr>
          <a:xfrm>
            <a:off x="731520" y="1828800"/>
            <a:ext cx="5212080" cy="1280160"/>
          </a:xfrm>
          <a:prstGeom prst="rect">
            <a:avLst/>
          </a:prstGeom>
          <a:solidFill>
            <a:srgbClr val="F1F5F9"/>
          </a:solidFill>
          <a:ln w="9525">
            <a:solidFill>
              <a:srgbClr val="1B5E83"/>
            </a:solidFill>
            <a:prstDash val="solid"/>
          </a:ln>
        </p:spPr>
      </p:sp>
      <p:sp>
        <p:nvSpPr>
          <p:cNvPr id="15" name="Text 5">
            <a:extLst>
              <a:ext uri="{FF2B5EF4-FFF2-40B4-BE49-F238E27FC236}">
                <a16:creationId xmlns:a16="http://schemas.microsoft.com/office/drawing/2014/main" id="{3C6789E7-C0BD-A38A-E778-551DCE7327CC}"/>
              </a:ext>
            </a:extLst>
          </p:cNvPr>
          <p:cNvSpPr txBox="1"/>
          <p:nvPr/>
        </p:nvSpPr>
        <p:spPr>
          <a:xfrm>
            <a:off x="822960" y="1901952"/>
            <a:ext cx="5029200" cy="1133856"/>
          </a:xfrm>
          <a:prstGeom prst="rect">
            <a:avLst/>
          </a:prstGeom>
          <a:noFill/>
          <a:ln/>
        </p:spPr>
        <p:txBody>
          <a:bodyPr wrap="square" lIns="1016" tIns="1016" rIns="1016" bIns="1016" rtlCol="0" anchor="t"/>
          <a:lstStyle/>
          <a:p>
            <a:pPr marL="0" indent="0">
              <a:spcAft>
                <a:spcPts val="600"/>
              </a:spcAft>
              <a:buNone/>
            </a:pPr>
            <a:r>
              <a:rPr lang="en-US" sz="1700" b="1" dirty="0">
                <a:solidFill>
                  <a:srgbClr val="1B5E83"/>
                </a:solidFill>
                <a:latin typeface="Calibri" pitchFamily="34" charset="0"/>
                <a:ea typeface="Calibri" pitchFamily="34" charset="-122"/>
                <a:cs typeface="Calibri" pitchFamily="34" charset="-120"/>
              </a:rPr>
              <a:t>Functions and caching</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clean(), load() and style(); @st.cache_data avoids re-cleaning on every click</a:t>
            </a:r>
            <a:endParaRPr lang="en-US" sz="1700" dirty="0"/>
          </a:p>
        </p:txBody>
      </p:sp>
      <p:sp>
        <p:nvSpPr>
          <p:cNvPr id="17" name="Shape 6">
            <a:extLst>
              <a:ext uri="{FF2B5EF4-FFF2-40B4-BE49-F238E27FC236}">
                <a16:creationId xmlns:a16="http://schemas.microsoft.com/office/drawing/2014/main" id="{41394564-0BBA-ED81-D831-DC6A9936F05B}"/>
              </a:ext>
            </a:extLst>
          </p:cNvPr>
          <p:cNvSpPr/>
          <p:nvPr/>
        </p:nvSpPr>
        <p:spPr>
          <a:xfrm>
            <a:off x="6309360" y="1828800"/>
            <a:ext cx="5212080" cy="1280160"/>
          </a:xfrm>
          <a:prstGeom prst="rect">
            <a:avLst/>
          </a:prstGeom>
          <a:solidFill>
            <a:srgbClr val="F1F5F9"/>
          </a:solidFill>
          <a:ln w="9525">
            <a:solidFill>
              <a:srgbClr val="1B5E83"/>
            </a:solidFill>
            <a:prstDash val="solid"/>
          </a:ln>
        </p:spPr>
      </p:sp>
      <p:sp>
        <p:nvSpPr>
          <p:cNvPr id="19" name="Text 7">
            <a:extLst>
              <a:ext uri="{FF2B5EF4-FFF2-40B4-BE49-F238E27FC236}">
                <a16:creationId xmlns:a16="http://schemas.microsoft.com/office/drawing/2014/main" id="{E4D228F3-EBBB-7F8B-2E97-B7F06EEBCB36}"/>
              </a:ext>
            </a:extLst>
          </p:cNvPr>
          <p:cNvSpPr txBox="1"/>
          <p:nvPr/>
        </p:nvSpPr>
        <p:spPr>
          <a:xfrm>
            <a:off x="6400800" y="1901952"/>
            <a:ext cx="5029200" cy="1133856"/>
          </a:xfrm>
          <a:prstGeom prst="rect">
            <a:avLst/>
          </a:prstGeom>
          <a:noFill/>
          <a:ln/>
        </p:spPr>
        <p:txBody>
          <a:bodyPr wrap="square" lIns="1016" tIns="1016" rIns="1016" bIns="1016" rtlCol="0" anchor="t"/>
          <a:lstStyle/>
          <a:p>
            <a:pPr marL="0" indent="0">
              <a:spcAft>
                <a:spcPts val="600"/>
              </a:spcAft>
              <a:buNone/>
            </a:pPr>
            <a:r>
              <a:rPr lang="en-US" sz="1700" b="1" dirty="0">
                <a:solidFill>
                  <a:srgbClr val="1B5E83"/>
                </a:solidFill>
                <a:latin typeface="Calibri" pitchFamily="34" charset="0"/>
                <a:ea typeface="Calibri" pitchFamily="34" charset="-122"/>
                <a:cs typeface="Calibri" pitchFamily="34" charset="-120"/>
              </a:rPr>
              <a:t>Lists and loops</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NUM_COLS and DATE_COLS are looped to convert types and fill missing values</a:t>
            </a:r>
            <a:endParaRPr lang="en-US" sz="1700" dirty="0"/>
          </a:p>
        </p:txBody>
      </p:sp>
      <p:sp>
        <p:nvSpPr>
          <p:cNvPr id="21" name="Shape 8">
            <a:extLst>
              <a:ext uri="{FF2B5EF4-FFF2-40B4-BE49-F238E27FC236}">
                <a16:creationId xmlns:a16="http://schemas.microsoft.com/office/drawing/2014/main" id="{683056D0-C64F-11E5-604F-DF3AF893989D}"/>
              </a:ext>
            </a:extLst>
          </p:cNvPr>
          <p:cNvSpPr/>
          <p:nvPr/>
        </p:nvSpPr>
        <p:spPr>
          <a:xfrm>
            <a:off x="731520" y="3291840"/>
            <a:ext cx="5212080" cy="1280160"/>
          </a:xfrm>
          <a:prstGeom prst="rect">
            <a:avLst/>
          </a:prstGeom>
          <a:solidFill>
            <a:srgbClr val="F1F5F9"/>
          </a:solidFill>
          <a:ln w="9525">
            <a:solidFill>
              <a:srgbClr val="1B5E83"/>
            </a:solidFill>
            <a:prstDash val="solid"/>
          </a:ln>
        </p:spPr>
      </p:sp>
      <p:sp>
        <p:nvSpPr>
          <p:cNvPr id="23" name="Text 9">
            <a:extLst>
              <a:ext uri="{FF2B5EF4-FFF2-40B4-BE49-F238E27FC236}">
                <a16:creationId xmlns:a16="http://schemas.microsoft.com/office/drawing/2014/main" id="{F1C1B9CA-104F-B49A-6CE4-620F88E2C591}"/>
              </a:ext>
            </a:extLst>
          </p:cNvPr>
          <p:cNvSpPr txBox="1"/>
          <p:nvPr/>
        </p:nvSpPr>
        <p:spPr>
          <a:xfrm>
            <a:off x="822960" y="3364992"/>
            <a:ext cx="5029200" cy="1133856"/>
          </a:xfrm>
          <a:prstGeom prst="rect">
            <a:avLst/>
          </a:prstGeom>
          <a:noFill/>
          <a:ln/>
        </p:spPr>
        <p:txBody>
          <a:bodyPr wrap="square" lIns="1016" tIns="1016" rIns="1016" bIns="1016" rtlCol="0" anchor="t"/>
          <a:lstStyle/>
          <a:p>
            <a:pPr marL="0" indent="0">
              <a:spcAft>
                <a:spcPts val="600"/>
              </a:spcAft>
              <a:buNone/>
            </a:pPr>
            <a:r>
              <a:rPr lang="en-US" sz="1700" b="1" dirty="0">
                <a:solidFill>
                  <a:srgbClr val="1B5E83"/>
                </a:solidFill>
                <a:latin typeface="Calibri" pitchFamily="34" charset="0"/>
                <a:ea typeface="Calibri" pitchFamily="34" charset="-122"/>
                <a:cs typeface="Calibri" pitchFamily="34" charset="-120"/>
              </a:rPr>
              <a:t>NumPy</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np.nan for invalid values, np.log10 for view scale, median for filling</a:t>
            </a:r>
            <a:endParaRPr lang="en-US" sz="1700" dirty="0"/>
          </a:p>
        </p:txBody>
      </p:sp>
      <p:sp>
        <p:nvSpPr>
          <p:cNvPr id="25" name="Shape 10">
            <a:extLst>
              <a:ext uri="{FF2B5EF4-FFF2-40B4-BE49-F238E27FC236}">
                <a16:creationId xmlns:a16="http://schemas.microsoft.com/office/drawing/2014/main" id="{364E74E6-9150-21BB-F81B-BB8593812CEB}"/>
              </a:ext>
            </a:extLst>
          </p:cNvPr>
          <p:cNvSpPr/>
          <p:nvPr/>
        </p:nvSpPr>
        <p:spPr>
          <a:xfrm>
            <a:off x="6309360" y="3291840"/>
            <a:ext cx="5212080" cy="1280160"/>
          </a:xfrm>
          <a:prstGeom prst="rect">
            <a:avLst/>
          </a:prstGeom>
          <a:solidFill>
            <a:srgbClr val="F1F5F9"/>
          </a:solidFill>
          <a:ln w="9525">
            <a:solidFill>
              <a:srgbClr val="1B5E83"/>
            </a:solidFill>
            <a:prstDash val="solid"/>
          </a:ln>
        </p:spPr>
      </p:sp>
      <p:sp>
        <p:nvSpPr>
          <p:cNvPr id="27" name="Text 11">
            <a:extLst>
              <a:ext uri="{FF2B5EF4-FFF2-40B4-BE49-F238E27FC236}">
                <a16:creationId xmlns:a16="http://schemas.microsoft.com/office/drawing/2014/main" id="{C7A9473A-B80B-4F20-B8EE-EE43CE545F39}"/>
              </a:ext>
            </a:extLst>
          </p:cNvPr>
          <p:cNvSpPr txBox="1"/>
          <p:nvPr/>
        </p:nvSpPr>
        <p:spPr>
          <a:xfrm>
            <a:off x="6400800" y="3364992"/>
            <a:ext cx="5029200" cy="1133856"/>
          </a:xfrm>
          <a:prstGeom prst="rect">
            <a:avLst/>
          </a:prstGeom>
          <a:noFill/>
          <a:ln/>
        </p:spPr>
        <p:txBody>
          <a:bodyPr wrap="square" lIns="1016" tIns="1016" rIns="1016" bIns="1016" rtlCol="0" anchor="t"/>
          <a:lstStyle/>
          <a:p>
            <a:pPr marL="0" indent="0">
              <a:spcAft>
                <a:spcPts val="600"/>
              </a:spcAft>
              <a:buNone/>
            </a:pPr>
            <a:r>
              <a:rPr lang="en-US" sz="1700" b="1" dirty="0">
                <a:solidFill>
                  <a:srgbClr val="1B5E83"/>
                </a:solidFill>
                <a:latin typeface="Calibri" pitchFamily="34" charset="0"/>
                <a:ea typeface="Calibri" pitchFamily="34" charset="-122"/>
                <a:cs typeface="Calibri" pitchFamily="34" charset="-120"/>
              </a:rPr>
              <a:t>Boolean filtering</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isin, between and str.contains masks combine all sidebar filters</a:t>
            </a:r>
            <a:endParaRPr lang="en-US" sz="1700" dirty="0"/>
          </a:p>
        </p:txBody>
      </p:sp>
      <p:sp>
        <p:nvSpPr>
          <p:cNvPr id="29" name="Shape 12">
            <a:extLst>
              <a:ext uri="{FF2B5EF4-FFF2-40B4-BE49-F238E27FC236}">
                <a16:creationId xmlns:a16="http://schemas.microsoft.com/office/drawing/2014/main" id="{0735CC65-37F9-BCEE-A6EF-AEB46CFB95B4}"/>
              </a:ext>
            </a:extLst>
          </p:cNvPr>
          <p:cNvSpPr/>
          <p:nvPr/>
        </p:nvSpPr>
        <p:spPr>
          <a:xfrm>
            <a:off x="731520" y="4754880"/>
            <a:ext cx="5212080" cy="1280160"/>
          </a:xfrm>
          <a:prstGeom prst="rect">
            <a:avLst/>
          </a:prstGeom>
          <a:solidFill>
            <a:srgbClr val="F1F5F9"/>
          </a:solidFill>
          <a:ln w="9525">
            <a:solidFill>
              <a:srgbClr val="1B5E83"/>
            </a:solidFill>
            <a:prstDash val="solid"/>
          </a:ln>
        </p:spPr>
      </p:sp>
      <p:sp>
        <p:nvSpPr>
          <p:cNvPr id="31" name="Text 13">
            <a:extLst>
              <a:ext uri="{FF2B5EF4-FFF2-40B4-BE49-F238E27FC236}">
                <a16:creationId xmlns:a16="http://schemas.microsoft.com/office/drawing/2014/main" id="{FFD1C1D6-4385-4B1D-9D9B-1969216607C5}"/>
              </a:ext>
            </a:extLst>
          </p:cNvPr>
          <p:cNvSpPr txBox="1"/>
          <p:nvPr/>
        </p:nvSpPr>
        <p:spPr>
          <a:xfrm>
            <a:off x="822960" y="4828032"/>
            <a:ext cx="5029200" cy="1133856"/>
          </a:xfrm>
          <a:prstGeom prst="rect">
            <a:avLst/>
          </a:prstGeom>
          <a:noFill/>
          <a:ln/>
        </p:spPr>
        <p:txBody>
          <a:bodyPr wrap="square" lIns="1016" tIns="1016" rIns="1016" bIns="1016" rtlCol="0" anchor="t"/>
          <a:lstStyle/>
          <a:p>
            <a:pPr marL="0" indent="0">
              <a:spcAft>
                <a:spcPts val="600"/>
              </a:spcAft>
              <a:buNone/>
            </a:pPr>
            <a:r>
              <a:rPr lang="en-US" sz="1700" b="1" dirty="0">
                <a:solidFill>
                  <a:srgbClr val="1B5E83"/>
                </a:solidFill>
                <a:latin typeface="Calibri" pitchFamily="34" charset="0"/>
                <a:ea typeface="Calibri" pitchFamily="34" charset="-122"/>
                <a:cs typeface="Calibri" pitchFamily="34" charset="-120"/>
              </a:rPr>
              <a:t>Group and aggregate</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groupby on category, tier, month and country for charts and KPIs</a:t>
            </a:r>
            <a:endParaRPr lang="en-US" sz="1700" dirty="0"/>
          </a:p>
        </p:txBody>
      </p:sp>
      <p:sp>
        <p:nvSpPr>
          <p:cNvPr id="33" name="Shape 14">
            <a:extLst>
              <a:ext uri="{FF2B5EF4-FFF2-40B4-BE49-F238E27FC236}">
                <a16:creationId xmlns:a16="http://schemas.microsoft.com/office/drawing/2014/main" id="{DC5360F2-02F8-B200-BF91-B0E64C6850DA}"/>
              </a:ext>
            </a:extLst>
          </p:cNvPr>
          <p:cNvSpPr/>
          <p:nvPr/>
        </p:nvSpPr>
        <p:spPr>
          <a:xfrm>
            <a:off x="6309360" y="4754880"/>
            <a:ext cx="5212080" cy="1280160"/>
          </a:xfrm>
          <a:prstGeom prst="rect">
            <a:avLst/>
          </a:prstGeom>
          <a:solidFill>
            <a:srgbClr val="F1F5F9"/>
          </a:solidFill>
          <a:ln w="9525">
            <a:solidFill>
              <a:srgbClr val="1B5E83"/>
            </a:solidFill>
            <a:prstDash val="solid"/>
          </a:ln>
        </p:spPr>
      </p:sp>
      <p:sp>
        <p:nvSpPr>
          <p:cNvPr id="35" name="Text 15">
            <a:extLst>
              <a:ext uri="{FF2B5EF4-FFF2-40B4-BE49-F238E27FC236}">
                <a16:creationId xmlns:a16="http://schemas.microsoft.com/office/drawing/2014/main" id="{14AE73E4-0709-89D6-1665-96FC433D587A}"/>
              </a:ext>
            </a:extLst>
          </p:cNvPr>
          <p:cNvSpPr txBox="1"/>
          <p:nvPr/>
        </p:nvSpPr>
        <p:spPr>
          <a:xfrm>
            <a:off x="6400800" y="4828032"/>
            <a:ext cx="5029200" cy="1133856"/>
          </a:xfrm>
          <a:prstGeom prst="rect">
            <a:avLst/>
          </a:prstGeom>
          <a:noFill/>
          <a:ln/>
        </p:spPr>
        <p:txBody>
          <a:bodyPr wrap="square" lIns="1016" tIns="1016" rIns="1016" bIns="1016" rtlCol="0" anchor="t"/>
          <a:lstStyle/>
          <a:p>
            <a:pPr marL="0" indent="0">
              <a:spcAft>
                <a:spcPts val="600"/>
              </a:spcAft>
              <a:buNone/>
            </a:pPr>
            <a:r>
              <a:rPr lang="en-US" sz="1700" b="1" dirty="0">
                <a:solidFill>
                  <a:srgbClr val="1B5E83"/>
                </a:solidFill>
                <a:latin typeface="Calibri" pitchFamily="34" charset="0"/>
                <a:ea typeface="Calibri" pitchFamily="34" charset="-122"/>
                <a:cs typeface="Calibri" pitchFamily="34" charset="-120"/>
              </a:rPr>
              <a:t>File handling</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pathlib Path and to_csv / to_excel save the cleaned data</a:t>
            </a:r>
            <a:endParaRPr lang="en-US" sz="1700" dirty="0"/>
          </a:p>
        </p:txBody>
      </p:sp>
    </p:spTree>
    <p:extLst>
      <p:ext uri="{BB962C8B-B14F-4D97-AF65-F5344CB8AC3E}">
        <p14:creationId xmlns:p14="http://schemas.microsoft.com/office/powerpoint/2010/main" val="3765439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logo_small.png">
            <a:extLst>
              <a:ext uri="{FF2B5EF4-FFF2-40B4-BE49-F238E27FC236}">
                <a16:creationId xmlns:a16="http://schemas.microsoft.com/office/drawing/2014/main" id="{FD26D376-4F7D-5B18-8B90-F9B6F4EB907E}"/>
              </a:ext>
            </a:extLst>
          </p:cNvPr>
          <p:cNvPicPr>
            <a:picLocks noChangeAspect="1"/>
          </p:cNvPicPr>
          <p:nvPr/>
        </p:nvPicPr>
        <p:blipFill>
          <a:blip r:embed="rId2"/>
          <a:stretch>
            <a:fillRect/>
          </a:stretch>
        </p:blipFill>
        <p:spPr>
          <a:xfrm>
            <a:off x="-240487" y="-243230"/>
            <a:ext cx="3249778" cy="1800454"/>
          </a:xfrm>
          <a:prstGeom prst="rect">
            <a:avLst/>
          </a:prstGeom>
        </p:spPr>
      </p:pic>
      <p:sp>
        <p:nvSpPr>
          <p:cNvPr id="5" name="Text 0">
            <a:extLst>
              <a:ext uri="{FF2B5EF4-FFF2-40B4-BE49-F238E27FC236}">
                <a16:creationId xmlns:a16="http://schemas.microsoft.com/office/drawing/2014/main" id="{6D82790C-5EF0-525D-1ABF-BBBF71CD0C90}"/>
              </a:ext>
            </a:extLst>
          </p:cNvPr>
          <p:cNvSpPr txBox="1"/>
          <p:nvPr/>
        </p:nvSpPr>
        <p:spPr>
          <a:xfrm>
            <a:off x="2743200" y="411480"/>
            <a:ext cx="7315200" cy="365760"/>
          </a:xfrm>
          <a:prstGeom prst="rect">
            <a:avLst/>
          </a:prstGeom>
          <a:noFill/>
          <a:ln/>
        </p:spPr>
        <p:txBody>
          <a:bodyPr wrap="square" lIns="0" tIns="0" rIns="0" bIns="0" rtlCol="0" anchor="ctr"/>
          <a:lstStyle/>
          <a:p>
            <a:pPr marL="0" indent="0">
              <a:buNone/>
            </a:pPr>
            <a:r>
              <a:rPr lang="en-US" sz="1200" b="1" dirty="0">
                <a:solidFill>
                  <a:srgbClr val="E8742C"/>
                </a:solidFill>
                <a:latin typeface="Calibri" pitchFamily="34" charset="0"/>
                <a:ea typeface="Calibri" pitchFamily="34" charset="-122"/>
                <a:cs typeface="Calibri" pitchFamily="34" charset="-120"/>
              </a:rPr>
              <a:t>SUMMARY</a:t>
            </a:r>
            <a:endParaRPr lang="en-US" sz="1200" dirty="0"/>
          </a:p>
        </p:txBody>
      </p:sp>
      <p:sp>
        <p:nvSpPr>
          <p:cNvPr id="7" name="Text 1">
            <a:extLst>
              <a:ext uri="{FF2B5EF4-FFF2-40B4-BE49-F238E27FC236}">
                <a16:creationId xmlns:a16="http://schemas.microsoft.com/office/drawing/2014/main" id="{46A558ED-F47A-45FE-743E-67D6C5D33B8D}"/>
              </a:ext>
            </a:extLst>
          </p:cNvPr>
          <p:cNvSpPr txBox="1"/>
          <p:nvPr/>
        </p:nvSpPr>
        <p:spPr>
          <a:xfrm>
            <a:off x="731520" y="914400"/>
            <a:ext cx="10789920" cy="685800"/>
          </a:xfrm>
          <a:prstGeom prst="rect">
            <a:avLst/>
          </a:prstGeom>
          <a:noFill/>
          <a:ln/>
        </p:spPr>
        <p:txBody>
          <a:bodyPr wrap="square" lIns="0" tIns="0" rIns="0" bIns="0" rtlCol="0" anchor="ctr"/>
          <a:lstStyle/>
          <a:p>
            <a:pPr marL="0" indent="0">
              <a:buNone/>
            </a:pPr>
            <a:r>
              <a:rPr lang="en-US" sz="3200" b="1" dirty="0">
                <a:solidFill>
                  <a:srgbClr val="1B5E83"/>
                </a:solidFill>
                <a:latin typeface="Calibri" pitchFamily="34" charset="0"/>
                <a:ea typeface="Calibri" pitchFamily="34" charset="-122"/>
                <a:cs typeface="Calibri" pitchFamily="34" charset="-120"/>
              </a:rPr>
              <a:t>Review-2 Key Points</a:t>
            </a:r>
            <a:endParaRPr lang="en-US" sz="3200" dirty="0"/>
          </a:p>
        </p:txBody>
      </p:sp>
      <p:sp>
        <p:nvSpPr>
          <p:cNvPr id="9" name="Text 2">
            <a:extLst>
              <a:ext uri="{FF2B5EF4-FFF2-40B4-BE49-F238E27FC236}">
                <a16:creationId xmlns:a16="http://schemas.microsoft.com/office/drawing/2014/main" id="{43A54205-2ACE-0623-B942-8CD5B3B75DBA}"/>
              </a:ext>
            </a:extLst>
          </p:cNvPr>
          <p:cNvSpPr txBox="1"/>
          <p:nvPr/>
        </p:nvSpPr>
        <p:spPr>
          <a:xfrm>
            <a:off x="731520" y="6446520"/>
            <a:ext cx="8229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DAE • Review-2 • Social Media Data Analysis System</a:t>
            </a:r>
            <a:endParaRPr lang="en-US" sz="1000" dirty="0"/>
          </a:p>
        </p:txBody>
      </p:sp>
      <p:sp>
        <p:nvSpPr>
          <p:cNvPr id="11" name="Text 3">
            <a:extLst>
              <a:ext uri="{FF2B5EF4-FFF2-40B4-BE49-F238E27FC236}">
                <a16:creationId xmlns:a16="http://schemas.microsoft.com/office/drawing/2014/main" id="{CB12B7C8-2E96-F6D7-B35B-AD8CD36B0211}"/>
              </a:ext>
            </a:extLst>
          </p:cNvPr>
          <p:cNvSpPr txBox="1"/>
          <p:nvPr/>
        </p:nvSpPr>
        <p:spPr>
          <a:xfrm>
            <a:off x="10881360" y="6446520"/>
            <a:ext cx="64008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23</a:t>
            </a:r>
            <a:endParaRPr lang="en-US" sz="1000" dirty="0"/>
          </a:p>
        </p:txBody>
      </p:sp>
      <p:sp>
        <p:nvSpPr>
          <p:cNvPr id="13" name="Text 4">
            <a:extLst>
              <a:ext uri="{FF2B5EF4-FFF2-40B4-BE49-F238E27FC236}">
                <a16:creationId xmlns:a16="http://schemas.microsoft.com/office/drawing/2014/main" id="{218F70D8-92D0-5CAD-F585-DDAA5A96C4CF}"/>
              </a:ext>
            </a:extLst>
          </p:cNvPr>
          <p:cNvSpPr txBox="1"/>
          <p:nvPr/>
        </p:nvSpPr>
        <p:spPr>
          <a:xfrm>
            <a:off x="731520" y="1828800"/>
            <a:ext cx="10789920" cy="29260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Completed modules: load, clean, transform, filter, dashboard</a:t>
            </a:r>
            <a:endParaRPr lang="en-US" sz="1800" dirty="0"/>
          </a:p>
          <a:p>
            <a:pPr marL="342900" indent="-3429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Cleaned data saved as CSV and Excel in the project folder</a:t>
            </a:r>
            <a:endParaRPr lang="en-US" sz="1800" dirty="0"/>
          </a:p>
          <a:p>
            <a:pPr marL="342900" indent="-3429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Main functions and libraries: Pandas, NumPy, Plotly, Streamlit</a:t>
            </a:r>
            <a:endParaRPr lang="en-US" sz="1800" dirty="0"/>
          </a:p>
          <a:p>
            <a:pPr marL="342900" indent="-3429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Six interactive charts, sorted table and insights</a:t>
            </a:r>
            <a:endParaRPr lang="en-US" sz="1800" dirty="0"/>
          </a:p>
          <a:p>
            <a:pPr marL="342900" indent="-3429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Each step connected to a DAE concept</a:t>
            </a:r>
            <a:endParaRPr lang="en-US" sz="1800" dirty="0"/>
          </a:p>
          <a:p>
            <a:pPr marL="342900" indent="-3429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Each member's individual contribution</a:t>
            </a:r>
            <a:endParaRPr lang="en-US" sz="1800" dirty="0"/>
          </a:p>
        </p:txBody>
      </p:sp>
      <p:sp>
        <p:nvSpPr>
          <p:cNvPr id="15" name="Shape 5">
            <a:extLst>
              <a:ext uri="{FF2B5EF4-FFF2-40B4-BE49-F238E27FC236}">
                <a16:creationId xmlns:a16="http://schemas.microsoft.com/office/drawing/2014/main" id="{D2E94738-D309-5679-7689-D0DABD507B1D}"/>
              </a:ext>
            </a:extLst>
          </p:cNvPr>
          <p:cNvSpPr/>
          <p:nvPr/>
        </p:nvSpPr>
        <p:spPr>
          <a:xfrm>
            <a:off x="1737360" y="5120640"/>
            <a:ext cx="8686800" cy="731520"/>
          </a:xfrm>
          <a:prstGeom prst="roundRect">
            <a:avLst>
              <a:gd name="adj" fmla="val 12500"/>
            </a:avLst>
          </a:prstGeom>
          <a:solidFill>
            <a:srgbClr val="1F2937"/>
          </a:solidFill>
          <a:ln w="12700">
            <a:solidFill>
              <a:srgbClr val="1F2937"/>
            </a:solidFill>
            <a:prstDash val="solid"/>
          </a:ln>
        </p:spPr>
      </p:sp>
      <p:sp>
        <p:nvSpPr>
          <p:cNvPr id="17" name="Text 6">
            <a:extLst>
              <a:ext uri="{FF2B5EF4-FFF2-40B4-BE49-F238E27FC236}">
                <a16:creationId xmlns:a16="http://schemas.microsoft.com/office/drawing/2014/main" id="{FAD8DE46-7399-0103-9D87-39A43A758D45}"/>
              </a:ext>
            </a:extLst>
          </p:cNvPr>
          <p:cNvSpPr txBox="1"/>
          <p:nvPr/>
        </p:nvSpPr>
        <p:spPr>
          <a:xfrm>
            <a:off x="1737360" y="5120640"/>
            <a:ext cx="8686800" cy="7315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LOAD  →  CLEAN  →  TRANSFORM  →  VISUALIZE  →  INSIGHT</a:t>
            </a:r>
            <a:endParaRPr lang="en-US" sz="1800" dirty="0"/>
          </a:p>
        </p:txBody>
      </p:sp>
    </p:spTree>
    <p:extLst>
      <p:ext uri="{BB962C8B-B14F-4D97-AF65-F5344CB8AC3E}">
        <p14:creationId xmlns:p14="http://schemas.microsoft.com/office/powerpoint/2010/main" val="3312811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logo_wide.png"/>
          <p:cNvPicPr>
            <a:picLocks noChangeAspect="1"/>
          </p:cNvPicPr>
          <p:nvPr/>
        </p:nvPicPr>
        <p:blipFill>
          <a:blip r:embed="rId3"/>
          <a:stretch>
            <a:fillRect/>
          </a:stretch>
        </p:blipFill>
        <p:spPr>
          <a:xfrm>
            <a:off x="2567635" y="822960"/>
            <a:ext cx="7607808" cy="1008583"/>
          </a:xfrm>
          <a:prstGeom prst="rect">
            <a:avLst/>
          </a:prstGeom>
        </p:spPr>
      </p:pic>
      <p:sp>
        <p:nvSpPr>
          <p:cNvPr id="3" name="Text 0"/>
          <p:cNvSpPr txBox="1"/>
          <p:nvPr/>
        </p:nvSpPr>
        <p:spPr>
          <a:xfrm>
            <a:off x="731520" y="2651760"/>
            <a:ext cx="10698480" cy="1097280"/>
          </a:xfrm>
          <a:prstGeom prst="rect">
            <a:avLst/>
          </a:prstGeom>
          <a:noFill/>
          <a:ln/>
        </p:spPr>
        <p:txBody>
          <a:bodyPr wrap="square" lIns="0" tIns="0" rIns="0" bIns="0" rtlCol="0" anchor="ctr"/>
          <a:lstStyle/>
          <a:p>
            <a:pPr marL="0" indent="0" algn="ctr">
              <a:buNone/>
            </a:pPr>
            <a:r>
              <a:rPr lang="en-US" sz="5400" b="1" dirty="0">
                <a:solidFill>
                  <a:srgbClr val="1B5E83"/>
                </a:solidFill>
                <a:latin typeface="Calibri" pitchFamily="34" charset="0"/>
                <a:ea typeface="Calibri" pitchFamily="34" charset="-122"/>
                <a:cs typeface="Calibri" pitchFamily="34" charset="-120"/>
              </a:rPr>
              <a:t>Thank You</a:t>
            </a:r>
            <a:endParaRPr lang="en-US" sz="5400" dirty="0"/>
          </a:p>
        </p:txBody>
      </p:sp>
      <p:sp>
        <p:nvSpPr>
          <p:cNvPr id="4" name="Text 1"/>
          <p:cNvSpPr txBox="1"/>
          <p:nvPr/>
        </p:nvSpPr>
        <p:spPr>
          <a:xfrm>
            <a:off x="731520" y="3840480"/>
            <a:ext cx="10698480" cy="548640"/>
          </a:xfrm>
          <a:prstGeom prst="rect">
            <a:avLst/>
          </a:prstGeom>
          <a:noFill/>
          <a:ln/>
        </p:spPr>
        <p:txBody>
          <a:bodyPr wrap="square" lIns="0" tIns="0" rIns="0" bIns="0" rtlCol="0" anchor="ctr"/>
          <a:lstStyle/>
          <a:p>
            <a:pPr marL="0" indent="0" algn="ctr">
              <a:buNone/>
            </a:pPr>
            <a:r>
              <a:rPr lang="en-US" sz="2400" dirty="0">
                <a:solidFill>
                  <a:srgbClr val="1F2937"/>
                </a:solidFill>
                <a:latin typeface="Calibri" pitchFamily="34" charset="0"/>
                <a:ea typeface="Calibri" pitchFamily="34" charset="-122"/>
                <a:cs typeface="Calibri"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TotalTime>
  <Words>2516</Words>
  <Application>Microsoft Office PowerPoint</Application>
  <PresentationFormat>Widescreen</PresentationFormat>
  <Paragraphs>277</Paragraphs>
  <Slides>14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Algerian</vt: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Data Analysis System - Review 2</dc:title>
  <dc:subject>PptxGenJS Presentation</dc:subject>
  <dc:creator>PptxGenJS</dc:creator>
  <cp:lastModifiedBy>Yaswanth Raju Piepuri</cp:lastModifiedBy>
  <cp:revision>6</cp:revision>
  <dcterms:created xsi:type="dcterms:W3CDTF">2026-10-02T04:25:20Z</dcterms:created>
  <dcterms:modified xsi:type="dcterms:W3CDTF">2026-10-30T07:09:24Z</dcterms:modified>
</cp:coreProperties>
</file>